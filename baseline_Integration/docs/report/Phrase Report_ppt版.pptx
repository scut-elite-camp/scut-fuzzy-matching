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834"/>
    <a:srgbClr val="2A78D6"/>
    <a:srgbClr val="ED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874519"/>
            <a:ext cx="10874959" cy="121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4200" b="1" dirty="0">
                <a:solidFill>
                  <a:srgbClr val="0B0B0B"/>
                </a:solidFill>
                <a:latin typeface="Microsoft YaHei"/>
              </a:rPr>
              <a:t>Phrase Report</a:t>
            </a:r>
            <a:endParaRPr sz="42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 err="1">
                <a:solidFill>
                  <a:srgbClr val="52514E"/>
                </a:solidFill>
                <a:latin typeface="Microsoft YaHei"/>
              </a:rPr>
              <a:t>从复现论文到批量编码</a:t>
            </a:r>
            <a:r>
              <a:rPr sz="1900" b="0" dirty="0">
                <a:solidFill>
                  <a:srgbClr val="52514E"/>
                </a:solidFill>
                <a:latin typeface="Microsoft YaHei"/>
              </a:rPr>
              <a:t> / </a:t>
            </a:r>
            <a:r>
              <a:rPr sz="1900" b="0" dirty="0" err="1">
                <a:solidFill>
                  <a:srgbClr val="52514E"/>
                </a:solidFill>
                <a:latin typeface="Microsoft YaHei"/>
              </a:rPr>
              <a:t>多语言</a:t>
            </a:r>
            <a:r>
              <a:rPr sz="1900" b="0" dirty="0">
                <a:solidFill>
                  <a:srgbClr val="52514E"/>
                </a:solidFill>
                <a:latin typeface="Microsoft YaHei"/>
              </a:rPr>
              <a:t> / </a:t>
            </a:r>
            <a:r>
              <a:rPr sz="1900" b="0" dirty="0" err="1">
                <a:solidFill>
                  <a:srgbClr val="52514E"/>
                </a:solidFill>
                <a:latin typeface="Microsoft YaHei"/>
              </a:rPr>
              <a:t>多维属性</a:t>
            </a:r>
            <a:endParaRPr sz="1900" b="0" dirty="0">
              <a:solidFill>
                <a:srgbClr val="52514E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3310128"/>
            <a:ext cx="310896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657600"/>
            <a:ext cx="10874959" cy="643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dirty="0" err="1">
                <a:solidFill>
                  <a:srgbClr val="52514E"/>
                </a:solidFill>
                <a:latin typeface="Microsoft YaHei"/>
              </a:rPr>
              <a:t>协议没变</a:t>
            </a:r>
            <a:r>
              <a:rPr lang="zh-CN" altLang="en-US" sz="1600" b="0" dirty="0">
                <a:solidFill>
                  <a:srgbClr val="52514E"/>
                </a:solidFill>
                <a:latin typeface="Microsoft YaHei"/>
              </a:rPr>
              <a:t>，</a:t>
            </a:r>
            <a:r>
              <a:rPr sz="1600" b="0" dirty="0" err="1">
                <a:solidFill>
                  <a:srgbClr val="52514E"/>
                </a:solidFill>
                <a:latin typeface="Microsoft YaHei"/>
              </a:rPr>
              <a:t>变的是编码宽度、输入语言、输入字段</a:t>
            </a:r>
            <a:endParaRPr sz="16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898781"/>
                </a:solidFill>
                <a:latin typeface="Microsoft YaHei"/>
              </a:rPr>
              <a:t>2026-10-0</a:t>
            </a:r>
            <a:r>
              <a:rPr lang="en-US" sz="1200" b="0" dirty="0">
                <a:solidFill>
                  <a:srgbClr val="898781"/>
                </a:solidFill>
                <a:latin typeface="Microsoft YaHei"/>
              </a:rPr>
              <a:t>8</a:t>
            </a:r>
            <a:endParaRPr sz="1200" b="0" dirty="0">
              <a:solidFill>
                <a:srgbClr val="898781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一页结论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2581579" cy="32461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91056"/>
            <a:ext cx="2581579" cy="6858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847088"/>
            <a:ext cx="2142667" cy="2916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B0B0B"/>
                </a:solidFill>
                <a:latin typeface="Microsoft YaHei"/>
              </a:rPr>
              <a:t>①  </a:t>
            </a:r>
            <a:r>
              <a:rPr sz="1500" b="1" dirty="0" err="1">
                <a:solidFill>
                  <a:srgbClr val="0B0B0B"/>
                </a:solidFill>
                <a:latin typeface="Microsoft YaHei"/>
              </a:rPr>
              <a:t>复现论文</a:t>
            </a:r>
            <a:endParaRPr sz="15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两轮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 CKKS </a:t>
            </a:r>
            <a:r>
              <a:rPr sz="1250" b="0" dirty="0" err="1">
                <a:solidFill>
                  <a:srgbClr val="52514E"/>
                </a:solidFill>
                <a:latin typeface="Microsoft YaHei"/>
              </a:rPr>
              <a:t>协议</a:t>
            </a: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MinHash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 200/50</a:t>
            </a:r>
            <a:r>
              <a:rPr lang="zh-CN" altLang="en-US" sz="1250" b="0" dirty="0">
                <a:solidFill>
                  <a:srgbClr val="52514E"/>
                </a:solidFill>
                <a:latin typeface="Microsoft YaHei"/>
              </a:rPr>
              <a:t>、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K-Means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endParaRPr lang="en-US" altLang="zh-CN" sz="1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lang="en-US" altLang="zh-CN" sz="1200" b="1" dirty="0">
                <a:solidFill>
                  <a:srgbClr val="2A78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NCVR 10K </a:t>
            </a:r>
            <a:r>
              <a:rPr lang="zh-CN" altLang="en-US" sz="1200" b="1" dirty="0">
                <a:solidFill>
                  <a:srgbClr val="2A78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 </a:t>
            </a:r>
            <a:r>
              <a:rPr lang="en-US" altLang="zh-CN" sz="1200" b="1" dirty="0">
                <a:solidFill>
                  <a:srgbClr val="2A78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200</a:t>
            </a:r>
            <a:r>
              <a:rPr lang="zh-CN" altLang="en-US" sz="1200" b="1" dirty="0">
                <a:solidFill>
                  <a:srgbClr val="2A78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lang="en-US" sz="1200" b="1" dirty="0">
              <a:solidFill>
                <a:srgbClr val="2A78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1" dirty="0">
                <a:solidFill>
                  <a:srgbClr val="2A78D6"/>
                </a:solidFill>
                <a:latin typeface="Microsoft YaHei"/>
              </a:rPr>
              <a:t>P</a:t>
            </a:r>
            <a:r>
              <a:rPr lang="en-US" altLang="zh-CN" sz="1350" b="1" dirty="0">
                <a:solidFill>
                  <a:srgbClr val="2A78D6"/>
                </a:solidFill>
                <a:latin typeface="Microsoft YaHei"/>
              </a:rPr>
              <a:t>recision</a:t>
            </a:r>
            <a:r>
              <a:rPr sz="1350" b="1" dirty="0">
                <a:solidFill>
                  <a:srgbClr val="2A78D6"/>
                </a:solidFill>
                <a:latin typeface="Microsoft YaHei"/>
              </a:rPr>
              <a:t> 0.9804</a:t>
            </a:r>
            <a:endParaRPr lang="en-US" sz="1350" b="1" dirty="0">
              <a:solidFill>
                <a:srgbClr val="2A78D6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>
                <a:solidFill>
                  <a:srgbClr val="2A78D6"/>
                </a:solidFill>
                <a:latin typeface="Microsoft YaHei"/>
              </a:rPr>
              <a:t>R</a:t>
            </a:r>
            <a:r>
              <a:rPr lang="en-US" altLang="zh-CN" sz="1350" b="1" dirty="0">
                <a:solidFill>
                  <a:srgbClr val="2A78D6"/>
                </a:solidFill>
                <a:latin typeface="Microsoft YaHei"/>
              </a:rPr>
              <a:t>ecall</a:t>
            </a:r>
            <a:r>
              <a:rPr sz="1350" b="1" dirty="0">
                <a:solidFill>
                  <a:srgbClr val="2A78D6"/>
                </a:solidFill>
                <a:latin typeface="Microsoft YaHei"/>
              </a:rPr>
              <a:t> 1.0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>
                <a:solidFill>
                  <a:srgbClr val="2A78D6"/>
                </a:solidFill>
                <a:latin typeface="Microsoft YaHei"/>
              </a:rPr>
              <a:t>F1 0.9901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2A78D6"/>
                </a:solidFill>
                <a:latin typeface="Microsoft YaHei"/>
              </a:rPr>
              <a:t>在线</a:t>
            </a:r>
            <a:r>
              <a:rPr sz="1350" b="1" dirty="0">
                <a:solidFill>
                  <a:srgbClr val="2A78D6"/>
                </a:solidFill>
                <a:latin typeface="Microsoft YaHei"/>
              </a:rPr>
              <a:t> 2722 s</a:t>
            </a:r>
            <a:endParaRPr lang="en-US" sz="1350" b="1" dirty="0">
              <a:solidFill>
                <a:srgbClr val="2A78D6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2A78D6"/>
                </a:solidFill>
                <a:latin typeface="Microsoft YaHei"/>
              </a:rPr>
              <a:t>通信</a:t>
            </a:r>
            <a:r>
              <a:rPr sz="1350" b="1" dirty="0">
                <a:solidFill>
                  <a:srgbClr val="2A78D6"/>
                </a:solidFill>
                <a:latin typeface="Microsoft YaHei"/>
              </a:rPr>
              <a:t> 15182 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2826" y="1591056"/>
            <a:ext cx="2581579" cy="32461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2827" y="1591056"/>
            <a:ext cx="2581579" cy="6858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2283" y="1847088"/>
            <a:ext cx="2142667" cy="2005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B0B0B"/>
                </a:solidFill>
                <a:latin typeface="Microsoft YaHei"/>
              </a:rPr>
              <a:t>②  </a:t>
            </a:r>
            <a:r>
              <a:rPr sz="1500" b="1" dirty="0" err="1">
                <a:solidFill>
                  <a:srgbClr val="0B0B0B"/>
                </a:solidFill>
                <a:latin typeface="Microsoft YaHei"/>
              </a:rPr>
              <a:t>列式匹配批量编码</a:t>
            </a:r>
            <a:endParaRPr sz="15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52514E"/>
                </a:solidFill>
                <a:latin typeface="Microsoft YaHei"/>
              </a:rPr>
              <a:t>2D </a:t>
            </a:r>
            <a:r>
              <a:rPr sz="1250" b="0" dirty="0" err="1">
                <a:solidFill>
                  <a:srgbClr val="52514E"/>
                </a:solidFill>
                <a:latin typeface="Microsoft YaHei"/>
              </a:rPr>
              <a:t>query×candidate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 SIMD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一个密文装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 4000/4096 槽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endParaRPr lang="en-US" sz="1250" b="0" dirty="0">
              <a:solidFill>
                <a:srgbClr val="52514E"/>
              </a:solidFill>
              <a:latin typeface="Microsoft YaHei"/>
            </a:endParaRP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lang="en-US" altLang="zh-CN" sz="12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NCVR 10K </a:t>
            </a:r>
            <a:r>
              <a:rPr lang="zh-CN" altLang="en-US" sz="12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 </a:t>
            </a:r>
            <a:r>
              <a:rPr lang="en-US" altLang="zh-CN" sz="12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200</a:t>
            </a:r>
            <a:r>
              <a:rPr lang="zh-CN" altLang="en-US" sz="12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sz="1200" b="0" dirty="0">
              <a:solidFill>
                <a:srgbClr val="EB6834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EB6834"/>
                </a:solidFill>
                <a:latin typeface="Microsoft YaHei"/>
              </a:rPr>
              <a:t>在线</a:t>
            </a:r>
            <a:r>
              <a:rPr sz="1350" b="1" dirty="0">
                <a:solidFill>
                  <a:srgbClr val="EB6834"/>
                </a:solidFill>
                <a:latin typeface="Microsoft YaHei"/>
              </a:rPr>
              <a:t> 159 s（17.1×）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EB6834"/>
                </a:solidFill>
                <a:latin typeface="Microsoft YaHei"/>
              </a:rPr>
              <a:t>通信</a:t>
            </a:r>
            <a:r>
              <a:rPr sz="1350" b="1" dirty="0">
                <a:solidFill>
                  <a:srgbClr val="EB6834"/>
                </a:solidFill>
                <a:latin typeface="Microsoft YaHei"/>
              </a:rPr>
              <a:t> 133 MB（113.9×）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6" y="1591056"/>
            <a:ext cx="2581579" cy="32461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87286" y="1591056"/>
            <a:ext cx="2581579" cy="6858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6742" y="1847088"/>
            <a:ext cx="2142667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B0B0B"/>
                </a:solidFill>
                <a:latin typeface="Microsoft YaHei"/>
              </a:rPr>
              <a:t>③  </a:t>
            </a:r>
            <a:r>
              <a:rPr sz="1500" b="1" dirty="0" err="1">
                <a:solidFill>
                  <a:srgbClr val="0B0B0B"/>
                </a:solidFill>
                <a:latin typeface="Microsoft YaHei"/>
              </a:rPr>
              <a:t>多语言输入适配</a:t>
            </a:r>
            <a:endParaRPr sz="15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52514E"/>
                </a:solidFill>
                <a:latin typeface="Microsoft YaHei"/>
              </a:rPr>
              <a:t>unicode_v1 </a:t>
            </a:r>
            <a:r>
              <a:rPr sz="1250" b="0" dirty="0" err="1">
                <a:solidFill>
                  <a:srgbClr val="52514E"/>
                </a:solidFill>
                <a:latin typeface="Microsoft YaHei"/>
              </a:rPr>
              <a:t>规范化</a:t>
            </a: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52514E"/>
                </a:solidFill>
                <a:latin typeface="Microsoft YaHei"/>
              </a:rPr>
              <a:t>+ </a:t>
            </a:r>
            <a:r>
              <a:rPr sz="1250" b="0" dirty="0" err="1">
                <a:solidFill>
                  <a:srgbClr val="52514E"/>
                </a:solidFill>
                <a:latin typeface="Microsoft YaHei"/>
              </a:rPr>
              <a:t>拉丁转写双通道建库</a:t>
            </a: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>
                <a:solidFill>
                  <a:srgbClr val="1BAF7A"/>
                </a:solidFill>
                <a:latin typeface="Microsoft YaHei"/>
              </a:rPr>
              <a:t>SAGE 43,206 </a:t>
            </a:r>
            <a:r>
              <a:rPr sz="1350" b="1" dirty="0" err="1">
                <a:solidFill>
                  <a:srgbClr val="1BAF7A"/>
                </a:solidFill>
                <a:latin typeface="Microsoft YaHei"/>
              </a:rPr>
              <a:t>条记录</a:t>
            </a:r>
            <a:endParaRPr sz="1350" b="1" dirty="0">
              <a:solidFill>
                <a:srgbClr val="1BAF7A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>
                <a:solidFill>
                  <a:srgbClr val="1BAF7A"/>
                </a:solidFill>
                <a:latin typeface="Microsoft YaHei"/>
              </a:rPr>
              <a:t>5 </a:t>
            </a:r>
            <a:r>
              <a:rPr sz="1350" b="1" dirty="0" err="1">
                <a:solidFill>
                  <a:srgbClr val="1BAF7A"/>
                </a:solidFill>
                <a:latin typeface="Microsoft YaHei"/>
              </a:rPr>
              <a:t>类文字系统</a:t>
            </a:r>
            <a:endParaRPr sz="1350" b="1" dirty="0">
              <a:solidFill>
                <a:srgbClr val="1BAF7A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1BAF7A"/>
                </a:solidFill>
                <a:latin typeface="Microsoft YaHei"/>
              </a:rPr>
              <a:t>验证查询</a:t>
            </a:r>
            <a:r>
              <a:rPr sz="1350" b="1" dirty="0">
                <a:solidFill>
                  <a:srgbClr val="1BAF7A"/>
                </a:solidFill>
                <a:latin typeface="Microsoft YaHei"/>
              </a:rPr>
              <a:t> 9/9 </a:t>
            </a:r>
            <a:r>
              <a:rPr sz="1350" b="1" dirty="0" err="1">
                <a:solidFill>
                  <a:srgbClr val="1BAF7A"/>
                </a:solidFill>
                <a:latin typeface="Microsoft YaHei"/>
              </a:rPr>
              <a:t>全通过</a:t>
            </a:r>
            <a:endParaRPr sz="1350" b="1" dirty="0">
              <a:solidFill>
                <a:srgbClr val="1BAF7A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51745" y="1591056"/>
            <a:ext cx="2581579" cy="3246120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EDA10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51745" y="1591056"/>
            <a:ext cx="2581579" cy="68580"/>
          </a:xfrm>
          <a:prstGeom prst="roundRect">
            <a:avLst>
              <a:gd name="adj" fmla="val 5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201" y="1847088"/>
            <a:ext cx="2362126" cy="1983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dirty="0">
                <a:solidFill>
                  <a:srgbClr val="0B0B0B"/>
                </a:solidFill>
                <a:latin typeface="Microsoft YaHei"/>
              </a:rPr>
              <a:t>④  </a:t>
            </a:r>
            <a:r>
              <a:rPr sz="1500" b="1" dirty="0" err="1">
                <a:solidFill>
                  <a:srgbClr val="0B0B0B"/>
                </a:solidFill>
                <a:latin typeface="Microsoft YaHei"/>
              </a:rPr>
              <a:t>多维属性输入适配</a:t>
            </a:r>
            <a:endParaRPr sz="15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声明式</a:t>
            </a:r>
            <a:r>
              <a:rPr sz="1250" b="0" dirty="0">
                <a:solidFill>
                  <a:srgbClr val="52514E"/>
                </a:solidFill>
                <a:latin typeface="Microsoft YaHei"/>
              </a:rPr>
              <a:t> schema </a:t>
            </a:r>
            <a:endParaRPr lang="en-US" sz="125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权重阈值标定</a:t>
            </a: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 err="1">
                <a:solidFill>
                  <a:srgbClr val="52514E"/>
                </a:solidFill>
                <a:latin typeface="Microsoft YaHei"/>
              </a:rPr>
              <a:t>多簇探测</a:t>
            </a:r>
            <a:endParaRPr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endParaRPr lang="en-US" sz="125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zh-CN" sz="1250" b="1" dirty="0">
                <a:solidFill>
                  <a:srgbClr val="EDA1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FEBRL 5000</a:t>
            </a:r>
            <a:r>
              <a:rPr lang="zh-CN" altLang="en-US" sz="1250" b="1" dirty="0">
                <a:solidFill>
                  <a:srgbClr val="EDA1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 </a:t>
            </a:r>
            <a:r>
              <a:rPr lang="en-US" altLang="zh-CN" sz="1250" b="1" dirty="0">
                <a:solidFill>
                  <a:srgbClr val="EDA1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100</a:t>
            </a:r>
            <a:r>
              <a:rPr lang="zh-CN" altLang="en-US" sz="1250" b="1" dirty="0">
                <a:solidFill>
                  <a:srgbClr val="EDA1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sz="1250" b="1" dirty="0">
              <a:solidFill>
                <a:srgbClr val="EDA1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dirty="0" err="1">
                <a:solidFill>
                  <a:srgbClr val="EDA100"/>
                </a:solidFill>
                <a:latin typeface="Microsoft YaHei"/>
              </a:rPr>
              <a:t>簇召回</a:t>
            </a:r>
            <a:r>
              <a:rPr lang="zh-CN" altLang="en-US" sz="1350" b="1" dirty="0">
                <a:solidFill>
                  <a:srgbClr val="EDA1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</a:t>
            </a:r>
            <a:r>
              <a:rPr lang="zh-CN" altLang="en-US" sz="1350" b="1" dirty="0">
                <a:solidFill>
                  <a:srgbClr val="EDA100"/>
                </a:solidFill>
                <a:latin typeface="Microsoft YaHei"/>
                <a:ea typeface="微软雅黑" panose="020B0503020204020204" pitchFamily="34" charset="-122"/>
              </a:rPr>
              <a:t> </a:t>
            </a:r>
            <a:r>
              <a:rPr lang="en-US" altLang="zh-CN" sz="1350" b="1" dirty="0">
                <a:solidFill>
                  <a:srgbClr val="EDA100"/>
                </a:solidFill>
                <a:latin typeface="Microsoft YaHei"/>
                <a:ea typeface="微软雅黑" panose="020B0503020204020204" pitchFamily="34" charset="-122"/>
              </a:rPr>
              <a:t>96%</a:t>
            </a:r>
            <a:endParaRPr sz="1350" b="1" dirty="0">
              <a:solidFill>
                <a:srgbClr val="EDA100"/>
              </a:solidFill>
              <a:latin typeface="Microsoft YaHei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F55101B-0BF9-EF77-EA03-8892E360040F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5161605" y="4389186"/>
            <a:ext cx="925833" cy="18218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751501E-06FE-A8C6-03D0-DA36B74F25B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478076" y="4837176"/>
            <a:ext cx="0" cy="525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55264124-868F-C563-680B-255A42FDB403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8933057" y="4453528"/>
            <a:ext cx="925831" cy="16931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AC4826E-4A75-D07C-D976-00ED40BDB6B9}"/>
              </a:ext>
            </a:extLst>
          </p:cNvPr>
          <p:cNvSpPr/>
          <p:nvPr/>
        </p:nvSpPr>
        <p:spPr>
          <a:xfrm>
            <a:off x="6658614" y="5401435"/>
            <a:ext cx="1767608" cy="10245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增量阶段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AE257DB-90C6-C37D-21BE-D8E9AD48D80F}"/>
              </a:ext>
            </a:extLst>
          </p:cNvPr>
          <p:cNvSpPr/>
          <p:nvPr/>
        </p:nvSpPr>
        <p:spPr>
          <a:xfrm>
            <a:off x="1065353" y="5300091"/>
            <a:ext cx="1767608" cy="10245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复现阶段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9E05A5-D90F-C68B-1ABC-4BD5A944D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417315"/>
            <a:ext cx="10509595" cy="4573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2026-05-24 ~ 2026-07-16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① 复现论文：协议骨架 + 基线性能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5943600" cy="257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dirty="0" err="1">
                <a:solidFill>
                  <a:srgbClr val="0B0B0B"/>
                </a:solidFill>
                <a:latin typeface="Microsoft YaHei"/>
              </a:rPr>
              <a:t>关键实现</a:t>
            </a:r>
            <a:endParaRPr sz="16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Round 1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质心匹配：加密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200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维签名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× k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个质心，选出目标簇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Round 2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列式匹配：加密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selector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选列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+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密文×密文点积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−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mask×τ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Cosine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K-Means，k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= ⌊√n⌋，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聚类与匹配同一套余弦语义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200 维是高分辨率签名，50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维是其前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50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维前缀（同一种子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3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次加密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/ 2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次解密，同一组公私钥；B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侧只有公开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context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每个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(query, candidate)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对独立采样正随机掩码，A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只能读出正负号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59168" y="1499616"/>
            <a:ext cx="4474159" cy="12984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59168" y="1499616"/>
            <a:ext cx="50292" cy="12984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96912" y="1645920"/>
            <a:ext cx="40901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2A78D6"/>
                </a:solidFill>
                <a:latin typeface="Microsoft YaHei"/>
              </a:rPr>
              <a:t>0.9804</a:t>
            </a:r>
            <a:r>
              <a:rPr sz="1500" b="1">
                <a:solidFill>
                  <a:srgbClr val="2A78D6"/>
                </a:solidFill>
                <a:latin typeface="Microsoft YaHei"/>
              </a:rPr>
              <a:t>  Precision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召回 1.0000 · F1 0.9901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926080"/>
            <a:ext cx="4474159" cy="12984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59168" y="2926080"/>
            <a:ext cx="50292" cy="1298448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6912" y="3072384"/>
            <a:ext cx="40901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898781"/>
                </a:solidFill>
                <a:latin typeface="Microsoft YaHei"/>
              </a:rPr>
              <a:t>2722</a:t>
            </a:r>
            <a:r>
              <a:rPr sz="1500" b="1">
                <a:solidFill>
                  <a:srgbClr val="898781"/>
                </a:solidFill>
                <a:latin typeface="Microsoft YaHei"/>
              </a:rPr>
              <a:t> s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在线总耗时 ≈ 45.4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4352544"/>
            <a:ext cx="4474159" cy="12984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59168" y="4352544"/>
            <a:ext cx="50292" cy="1298448"/>
          </a:xfrm>
          <a:prstGeom prst="roundRect">
            <a:avLst>
              <a:gd name="adj" fmla="val 5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6912" y="4498848"/>
            <a:ext cx="40901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898781"/>
                </a:solidFill>
                <a:latin typeface="Microsoft YaHei"/>
              </a:rPr>
              <a:t>15182</a:t>
            </a:r>
            <a:r>
              <a:rPr sz="1500" b="1">
                <a:solidFill>
                  <a:srgbClr val="898781"/>
                </a:solidFill>
                <a:latin typeface="Microsoft YaHei"/>
              </a:rPr>
              <a:t> MB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通信总量 ≈ 14.8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20918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B0B0B"/>
                </a:solidFill>
                <a:latin typeface="Microsoft YaHei"/>
              </a:rPr>
              <a:t>结论：协议正确性达标、零漏报；但瓶颈不在密码学</a:t>
            </a:r>
            <a:r>
              <a:rPr sz="1400" b="1" dirty="0">
                <a:solidFill>
                  <a:srgbClr val="0B0B0B"/>
                </a:solidFill>
                <a:latin typeface="Microsoft YaHei"/>
              </a:rPr>
              <a:t> —— </a:t>
            </a:r>
            <a:r>
              <a:rPr sz="1400" b="1" dirty="0" err="1">
                <a:solidFill>
                  <a:srgbClr val="0B0B0B"/>
                </a:solidFill>
                <a:latin typeface="Microsoft YaHei"/>
              </a:rPr>
              <a:t>每个密文只用了</a:t>
            </a:r>
            <a:r>
              <a:rPr sz="1400" b="1" dirty="0">
                <a:solidFill>
                  <a:srgbClr val="0B0B0B"/>
                </a:solidFill>
                <a:latin typeface="Microsoft YaHei"/>
              </a:rPr>
              <a:t> 4096 </a:t>
            </a:r>
            <a:r>
              <a:rPr sz="1400" b="1" dirty="0" err="1">
                <a:solidFill>
                  <a:srgbClr val="0B0B0B"/>
                </a:solidFill>
                <a:latin typeface="Microsoft YaHei"/>
              </a:rPr>
              <a:t>个槽位里的几十个</a:t>
            </a:r>
            <a:r>
              <a:rPr sz="1400" b="1" dirty="0">
                <a:solidFill>
                  <a:srgbClr val="0B0B0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2026-07-28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② 列式匹配批量编码：二维 SIMD 平铺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5120640" cy="2989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 err="1">
                <a:solidFill>
                  <a:srgbClr val="0B0B0B"/>
                </a:solidFill>
                <a:latin typeface="Microsoft YaHei"/>
              </a:rPr>
              <a:t>把批处理从「一次装多条查询」升级为二维平铺</a:t>
            </a:r>
            <a:endParaRPr sz="16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52514E"/>
                </a:solidFill>
                <a:latin typeface="Microsoft YaHei"/>
              </a:rPr>
              <a:t>slot(q, t) = q × T + t     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T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= ⌊4096 / m⌋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>
                <a:solidFill>
                  <a:srgbClr val="52514E"/>
                </a:solidFill>
                <a:latin typeface="Microsoft YaHei"/>
              </a:rPr>
              <a:t>m = 200 → T = 20，一个密文装 200×20 = 4000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个独立分数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dirty="0" err="1">
                <a:solidFill>
                  <a:srgbClr val="52514E"/>
                </a:solidFill>
                <a:latin typeface="Microsoft YaHei"/>
              </a:rPr>
              <a:t>槽位利用率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4000 / 4096 = 97.7%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Round 1：50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个质心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→ 3 个 tile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Round 2：483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个候选列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→ 25 个 tile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-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每对独立掩码、padding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置零、判定逻辑与串行版逐位一致</a:t>
            </a:r>
            <a:endParaRPr sz="1400" b="0" dirty="0">
              <a:solidFill>
                <a:srgbClr val="52514E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CN" sz="1400" b="0" dirty="0">
                <a:solidFill>
                  <a:srgbClr val="52514E"/>
                </a:solidFill>
                <a:latin typeface="Microsoft YaHei"/>
              </a:rPr>
              <a:t>-</a:t>
            </a:r>
            <a:r>
              <a:rPr lang="en-US" sz="1400" b="0" dirty="0">
                <a:solidFill>
                  <a:srgbClr val="52514E"/>
                </a:solidFill>
                <a:latin typeface="Microsoft YaHei"/>
              </a:rPr>
              <a:t> 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A→B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强制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bytes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序列化，B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Microsoft YaHei"/>
              </a:rPr>
              <a:t>只持有公开</a:t>
            </a:r>
            <a:r>
              <a:rPr sz="1400" b="0" dirty="0">
                <a:solidFill>
                  <a:srgbClr val="52514E"/>
                </a:solidFill>
                <a:latin typeface="Microsoft YaHei"/>
              </a:rPr>
              <a:t> context</a:t>
            </a:r>
          </a:p>
        </p:txBody>
      </p:sp>
      <p:pic>
        <p:nvPicPr>
          <p:cNvPr id="6" name="Picture 5" descr="fig3_ciphertext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900297"/>
            <a:ext cx="5525719" cy="32311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898781"/>
                </a:solidFill>
                <a:latin typeface="Microsoft YaHei"/>
              </a:rPr>
              <a:t>NCVR 10K · 200 </a:t>
            </a:r>
            <a:r>
              <a:rPr sz="1200" b="1" dirty="0" err="1">
                <a:solidFill>
                  <a:srgbClr val="898781"/>
                </a:solidFill>
                <a:latin typeface="Microsoft YaHei"/>
              </a:rPr>
              <a:t>查询</a:t>
            </a:r>
            <a:r>
              <a:rPr sz="1200" b="1" dirty="0">
                <a:solidFill>
                  <a:srgbClr val="898781"/>
                </a:solidFill>
                <a:latin typeface="Microsoft YaHei"/>
              </a:rPr>
              <a:t> × 10000 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② 结果：精度分毫不变，在线快 17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batching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28" y="1527048"/>
            <a:ext cx="933123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06440"/>
            <a:ext cx="11343132" cy="51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0B0B"/>
                </a:solidFill>
                <a:latin typeface="Microsoft YaHei"/>
              </a:rPr>
              <a:t>P / R / F1 / Acc 与串行版完全相同（0.9804 / 1.0 / 0.9901 / 0.99）</a:t>
            </a:r>
            <a:endParaRPr lang="en-US" sz="14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B0B0B"/>
                </a:solidFill>
                <a:latin typeface="Microsoft YaHei"/>
              </a:rPr>
              <a:t>全链路最大绝对误差</a:t>
            </a:r>
            <a:r>
              <a:rPr sz="1400" b="1" dirty="0">
                <a:solidFill>
                  <a:srgbClr val="0B0B0B"/>
                </a:solidFill>
                <a:latin typeface="Microsoft YaHei"/>
              </a:rPr>
              <a:t> 9.57e-05，score </a:t>
            </a:r>
            <a:r>
              <a:rPr sz="1400" b="1" dirty="0" err="1">
                <a:solidFill>
                  <a:srgbClr val="0B0B0B"/>
                </a:solidFill>
                <a:latin typeface="Microsoft YaHei"/>
              </a:rPr>
              <a:t>正负判定一致率</a:t>
            </a:r>
            <a:r>
              <a:rPr sz="1400" b="1" dirty="0">
                <a:solidFill>
                  <a:srgbClr val="0B0B0B"/>
                </a:solidFill>
                <a:latin typeface="Microsoft YaHei"/>
              </a:rPr>
              <a:t>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2026-08-25 ~ 2026-09-03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③ 多语言输入适配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6" y="1429512"/>
            <a:ext cx="10874959" cy="1233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dirty="0" err="1">
                <a:solidFill>
                  <a:srgbClr val="52514E"/>
                </a:solidFill>
                <a:latin typeface="Microsoft YaHei"/>
              </a:rPr>
              <a:t>原实现的正则</a:t>
            </a:r>
            <a:r>
              <a:rPr sz="1300" b="0" dirty="0">
                <a:solidFill>
                  <a:srgbClr val="52514E"/>
                </a:solidFill>
                <a:latin typeface="Microsoft YaHei"/>
              </a:rPr>
              <a:t> [^a-z\s] </a:t>
            </a:r>
            <a:r>
              <a:rPr sz="1300" b="0" dirty="0" err="1">
                <a:solidFill>
                  <a:srgbClr val="52514E"/>
                </a:solidFill>
                <a:latin typeface="Microsoft YaHei"/>
              </a:rPr>
              <a:t>会把汉字、阿拉伯文、重音字符整段删掉</a:t>
            </a:r>
            <a:r>
              <a:rPr sz="1300" b="0" dirty="0">
                <a:solidFill>
                  <a:srgbClr val="52514E"/>
                </a:solidFill>
                <a:latin typeface="Microsoft YaHei"/>
              </a:rPr>
              <a:t> —— </a:t>
            </a:r>
            <a:r>
              <a:rPr sz="1300" b="0" dirty="0" err="1">
                <a:solidFill>
                  <a:srgbClr val="52514E"/>
                </a:solidFill>
                <a:latin typeface="Microsoft YaHei"/>
              </a:rPr>
              <a:t>非拉丁姓名进来就是空签名</a:t>
            </a:r>
            <a:r>
              <a:rPr sz="1300" b="0" dirty="0">
                <a:solidFill>
                  <a:srgbClr val="52514E"/>
                </a:solidFill>
                <a:latin typeface="Microsoft YaHei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B0B0B"/>
                </a:solidFill>
                <a:latin typeface="Microsoft YaHei"/>
              </a:rPr>
              <a:t>english_v1：原路径不动，NCVR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等英文数据零回归</a:t>
            </a:r>
            <a:endParaRPr lang="en-US" sz="13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0B0B0B"/>
                </a:solidFill>
                <a:latin typeface="Microsoft YaHei"/>
              </a:rPr>
              <a:t>unicode_v1：NFKC +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跨文字大小写折叠</a:t>
            </a:r>
            <a:r>
              <a:rPr sz="1300" b="1" dirty="0">
                <a:solidFill>
                  <a:srgbClr val="0B0B0B"/>
                </a:solidFill>
                <a:latin typeface="Microsoft YaHei"/>
              </a:rPr>
              <a:t> +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标点清理</a:t>
            </a:r>
            <a:r>
              <a:rPr sz="1300" b="1" dirty="0">
                <a:solidFill>
                  <a:srgbClr val="0B0B0B"/>
                </a:solidFill>
                <a:latin typeface="Microsoft YaHei"/>
              </a:rPr>
              <a:t> +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重音折叠</a:t>
            </a:r>
            <a:r>
              <a:rPr sz="1300" b="1" dirty="0">
                <a:solidFill>
                  <a:srgbClr val="0B0B0B"/>
                </a:solidFill>
                <a:latin typeface="Microsoft YaHei"/>
              </a:rPr>
              <a:t> +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保留原生文字</a:t>
            </a:r>
            <a:endParaRPr sz="130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B0B0B"/>
                </a:solidFill>
                <a:latin typeface="Microsoft YaHei"/>
              </a:rPr>
              <a:t>拉丁转写双通道：anyascii</a:t>
            </a:r>
            <a:r>
              <a:rPr sz="1300" b="1" dirty="0">
                <a:solidFill>
                  <a:srgbClr val="0B0B0B"/>
                </a:solidFill>
                <a:latin typeface="Microsoft YaHei"/>
              </a:rPr>
              <a:t>==0.3.3 </a:t>
            </a:r>
            <a:r>
              <a:rPr sz="1300" b="1" dirty="0" err="1">
                <a:solidFill>
                  <a:srgbClr val="0B0B0B"/>
                </a:solidFill>
                <a:latin typeface="Microsoft YaHei"/>
              </a:rPr>
              <a:t>生成变体，与原生姓名一起建库</a:t>
            </a:r>
            <a:endParaRPr sz="1300" b="1" dirty="0">
              <a:solidFill>
                <a:srgbClr val="0B0B0B"/>
              </a:solidFill>
              <a:latin typeface="Microsoft YaHei"/>
            </a:endParaRPr>
          </a:p>
        </p:txBody>
      </p:sp>
      <p:pic>
        <p:nvPicPr>
          <p:cNvPr id="6" name="Picture 5" descr="fig4_sage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466" y="2779776"/>
            <a:ext cx="840476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7" y="6178296"/>
            <a:ext cx="10874959" cy="495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 err="1">
                <a:solidFill>
                  <a:srgbClr val="0B0B0B"/>
                </a:solidFill>
                <a:latin typeface="Microsoft YaHei"/>
              </a:rPr>
              <a:t>跨文字真实跑通：廖學廣</a:t>
            </a:r>
            <a:r>
              <a:rPr sz="1350" b="1" dirty="0">
                <a:solidFill>
                  <a:srgbClr val="0B0B0B"/>
                </a:solidFill>
                <a:latin typeface="Microsoft YaHei"/>
              </a:rPr>
              <a:t> ↔ </a:t>
            </a:r>
            <a:r>
              <a:rPr sz="1350" b="1" dirty="0" err="1">
                <a:solidFill>
                  <a:srgbClr val="0B0B0B"/>
                </a:solidFill>
                <a:latin typeface="Microsoft YaHei"/>
              </a:rPr>
              <a:t>LiaoXueGuang</a:t>
            </a:r>
            <a:r>
              <a:rPr lang="zh-CN" altLang="en-US" sz="1350" b="1" dirty="0">
                <a:solidFill>
                  <a:srgbClr val="0B0B0B"/>
                </a:solidFill>
                <a:latin typeface="Microsoft YaHei"/>
              </a:rPr>
              <a:t>；</a:t>
            </a:r>
            <a:r>
              <a:rPr sz="1350" b="1" dirty="0" err="1">
                <a:solidFill>
                  <a:srgbClr val="0B0B0B"/>
                </a:solidFill>
                <a:latin typeface="Microsoft YaHei"/>
              </a:rPr>
              <a:t>阿拉伯原名</a:t>
            </a:r>
            <a:r>
              <a:rPr sz="1350" b="1" dirty="0">
                <a:solidFill>
                  <a:srgbClr val="0B0B0B"/>
                </a:solidFill>
                <a:latin typeface="Microsoft YaHei"/>
              </a:rPr>
              <a:t> ↔ </a:t>
            </a:r>
            <a:r>
              <a:rPr sz="1350" b="1" dirty="0" err="1">
                <a:solidFill>
                  <a:srgbClr val="0B0B0B"/>
                </a:solidFill>
                <a:latin typeface="Microsoft YaHei"/>
              </a:rPr>
              <a:t>拉丁转写</a:t>
            </a:r>
            <a:r>
              <a:rPr lang="zh-CN" altLang="en-US" sz="1350" b="1" dirty="0">
                <a:solidFill>
                  <a:srgbClr val="0B0B0B"/>
                </a:solidFill>
                <a:latin typeface="Microsoft YaHei"/>
              </a:rPr>
              <a:t>；</a:t>
            </a:r>
            <a:r>
              <a:rPr sz="1350" b="1" dirty="0" err="1">
                <a:solidFill>
                  <a:srgbClr val="0B0B0B"/>
                </a:solidFill>
                <a:latin typeface="Microsoft YaHei"/>
              </a:rPr>
              <a:t>缅甸文全角括号归一化</a:t>
            </a:r>
            <a:r>
              <a:rPr lang="zh-CN" altLang="en-US" sz="1350" b="1" dirty="0">
                <a:solidFill>
                  <a:srgbClr val="0B0B0B"/>
                </a:solidFill>
                <a:latin typeface="Microsoft YaHei"/>
              </a:rPr>
              <a:t>；</a:t>
            </a:r>
            <a:r>
              <a:rPr sz="1350" b="1" dirty="0" err="1">
                <a:solidFill>
                  <a:srgbClr val="0B0B0B"/>
                </a:solidFill>
                <a:latin typeface="Microsoft YaHei"/>
              </a:rPr>
              <a:t>匈牙利语重音折叠</a:t>
            </a:r>
            <a:endParaRPr lang="en-US" sz="1350" b="1" dirty="0">
              <a:solidFill>
                <a:srgbClr val="0B0B0B"/>
              </a:solidFill>
              <a:latin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sz="135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50" b="1" dirty="0" err="1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条查询全部</a:t>
            </a:r>
            <a:r>
              <a:rPr lang="zh-CN" altLang="en-US" sz="135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endParaRPr sz="1350" b="1" dirty="0">
              <a:solidFill>
                <a:srgbClr val="0B0B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Microsoft YaHei"/>
              </a:rPr>
              <a:t>2026-09-04 ~ 2026-10-03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47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2700" b="1" dirty="0">
                <a:solidFill>
                  <a:srgbClr val="0B0B0B"/>
                </a:solidFill>
                <a:latin typeface="Microsoft YaHei"/>
              </a:rPr>
              <a:t>④ </a:t>
            </a:r>
            <a:r>
              <a:rPr sz="2700" b="1" dirty="0" err="1">
                <a:solidFill>
                  <a:srgbClr val="0B0B0B"/>
                </a:solidFill>
                <a:latin typeface="Microsoft YaHei"/>
              </a:rPr>
              <a:t>多维属性：声明式</a:t>
            </a:r>
            <a:r>
              <a:rPr sz="2700" b="1" dirty="0">
                <a:solidFill>
                  <a:srgbClr val="0B0B0B"/>
                </a:solidFill>
                <a:latin typeface="Microsoft YaHei"/>
              </a:rPr>
              <a:t> schema</a:t>
            </a:r>
            <a:r>
              <a:rPr lang="zh-CN" altLang="en-US" sz="270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、实测标定权重和阈值</a:t>
            </a:r>
            <a:endParaRPr sz="2700" b="1" dirty="0">
              <a:solidFill>
                <a:srgbClr val="0B0B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58368" y="1481328"/>
                <a:ext cx="10874959" cy="129849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sz="1350" b="0" dirty="0" err="1">
                    <a:solidFill>
                      <a:srgbClr val="5251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姓名不是唯一标识</a:t>
                </a:r>
                <a:r>
                  <a:rPr lang="zh-CN" altLang="en-US" sz="1350" dirty="0">
                    <a:solidFill>
                      <a:srgbClr val="5251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，将多维属性</a:t>
                </a:r>
                <a:r>
                  <a:rPr sz="1350" b="0" dirty="0" err="1">
                    <a:solidFill>
                      <a:srgbClr val="5251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泛化成一份声明式配置</a:t>
                </a:r>
                <a:r>
                  <a:rPr lang="zh-CN" altLang="en-US" sz="1350" dirty="0">
                    <a:solidFill>
                      <a:srgbClr val="5251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sz="1350" b="0" dirty="0">
                  <a:solidFill>
                    <a:srgbClr val="5251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可复用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　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换数据集只改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schema 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文件，两轮协议、安全边界一行不动</a:t>
                </a:r>
                <a:endParaRPr sz="1350" b="1" dirty="0">
                  <a:solidFill>
                    <a:srgbClr val="0B0B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可扩展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　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内置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fuzzy_text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/ exact / 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date；register_encoder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是扩展点，加属性不用碰协议</a:t>
                </a:r>
                <a:endParaRPr sz="1350" b="1" dirty="0">
                  <a:solidFill>
                    <a:srgbClr val="0B0B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隐私不变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每块先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L2 </a:t>
                </a:r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归一化、再乘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350" b="1" i="1" dirty="0" smtClean="0">
                            <a:solidFill>
                              <a:srgbClr val="0B0B0B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350" b="1" i="1" dirty="0">
                            <a:solidFill>
                              <a:srgbClr val="0B0B0B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1350" b="1" i="1" dirty="0">
                            <a:solidFill>
                              <a:srgbClr val="0B0B0B"/>
                            </a:solidFill>
                            <a:latin typeface="Cambria Math" panose="02040503050406030204" pitchFamily="18" charset="0"/>
                          </a:rPr>
                          <m:t>ᵢ</m:t>
                        </m:r>
                      </m:e>
                    </m:rad>
                    <m:r>
                      <a:rPr lang="en-US" sz="1350" b="1" i="1" dirty="0" smtClean="0">
                        <a:solidFill>
                          <a:srgbClr val="0B0B0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350" b="1" dirty="0" err="1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然后拼接</a:t>
                </a:r>
                <a:r>
                  <a:rPr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—— </a:t>
                </a:r>
                <a:r>
                  <a:rPr lang="zh-CN" altLang="en-US" sz="1350" b="1" dirty="0">
                    <a:solidFill>
                      <a:srgbClr val="0B0B0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不影响后续双层隐私协议</a:t>
                </a:r>
                <a:endParaRPr sz="1350" b="1" dirty="0">
                  <a:solidFill>
                    <a:srgbClr val="0B0B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1481328"/>
                <a:ext cx="10874959" cy="1298497"/>
              </a:xfrm>
              <a:prstGeom prst="rect">
                <a:avLst/>
              </a:prstGeom>
              <a:blipFill>
                <a:blip r:embed="rId2"/>
                <a:stretch>
                  <a:fillRect l="-953" t="-2347" b="-4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fig8_schema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3090671"/>
            <a:ext cx="8896725" cy="3262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10874959" cy="209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FEBRL</a:t>
            </a:r>
            <a:r>
              <a:rPr lang="en-US"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 </a:t>
            </a:r>
            <a:r>
              <a:rPr sz="1200" b="1" dirty="0" err="1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lang="en-US"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8987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sz="1200" b="1" dirty="0">
              <a:solidFill>
                <a:srgbClr val="8987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47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B0B0B"/>
                </a:solidFill>
                <a:latin typeface="Microsoft YaHei"/>
              </a:rPr>
              <a:t>④ 多簇探测：top-3 + </a:t>
            </a:r>
            <a:r>
              <a:rPr sz="2700" b="1" dirty="0" err="1">
                <a:solidFill>
                  <a:srgbClr val="0B0B0B"/>
                </a:solidFill>
                <a:latin typeface="Microsoft YaHei"/>
              </a:rPr>
              <a:t>命中即停</a:t>
            </a:r>
            <a:endParaRPr sz="2700" b="1" dirty="0">
              <a:solidFill>
                <a:srgbClr val="0B0B0B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0874959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6_probing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43" y="1499616"/>
            <a:ext cx="9758575" cy="3624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83217"/>
            <a:ext cx="10874959" cy="932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dirty="0" err="1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按质心分降序探</a:t>
            </a:r>
            <a:r>
              <a:rPr sz="1300" b="0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sz="1300" b="0" dirty="0" err="1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个簇、命中即停。这条流程只对多维属性输入开启，普通姓名输入仍然走</a:t>
            </a:r>
            <a:r>
              <a:rPr sz="1300" b="0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top-1。</a:t>
            </a:r>
            <a:endParaRPr lang="en-US" sz="1300" b="0" dirty="0">
              <a:solidFill>
                <a:srgbClr val="0B0B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30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130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top-1</a:t>
            </a:r>
            <a:r>
              <a:rPr lang="zh-CN" altLang="en-US" sz="130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，簇召回率提高到了</a:t>
            </a:r>
            <a:r>
              <a:rPr lang="en-US" altLang="zh-CN" sz="1300" b="1" dirty="0">
                <a:solidFill>
                  <a:srgbClr val="0B0B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96%</a:t>
            </a:r>
            <a:endParaRPr sz="1300" b="1" dirty="0">
              <a:solidFill>
                <a:srgbClr val="0B0B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00" b="1" dirty="0" err="1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用全探测</a:t>
            </a:r>
            <a:r>
              <a:rPr lang="zh-CN" altLang="en-US"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300" b="1" dirty="0" err="1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库里没有对应记录的查询，early</a:t>
            </a:r>
            <a:r>
              <a:rPr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stop </a:t>
            </a:r>
            <a:r>
              <a:rPr sz="1300" b="1" dirty="0" err="1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无处可停，必然扫满整库</a:t>
            </a:r>
            <a:r>
              <a:rPr lang="zh-CN" altLang="en-US"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，性能极差</a:t>
            </a:r>
            <a:r>
              <a:rPr sz="1300" b="1" dirty="0">
                <a:solidFill>
                  <a:srgbClr val="EB68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529</Words>
  <Application>Microsoft Office PowerPoint</Application>
  <PresentationFormat>宽屏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Microsoft YaHei</vt:lpstr>
      <vt:lpstr>Microsoft YaHei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two Two</cp:lastModifiedBy>
  <cp:revision>8</cp:revision>
  <dcterms:created xsi:type="dcterms:W3CDTF">2013-01-27T09:14:16Z</dcterms:created>
  <dcterms:modified xsi:type="dcterms:W3CDTF">2026-10-04T16:25:16Z</dcterms:modified>
  <cp:category/>
</cp:coreProperties>
</file>