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5.svg" ContentType="image/svg+xml"/>
  <Override PartName="/ppt/media/image20.svg" ContentType="image/svg+xml"/>
  <Override PartName="/ppt/media/image22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6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80" userDrawn="1">
          <p15:clr>
            <a:srgbClr val="747775"/>
          </p15:clr>
        </p15:guide>
        <p15:guide id="2" pos="292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80"/>
        <p:guide pos="292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7" Type="http://schemas.openxmlformats.org/officeDocument/2006/relationships/notesSlide" Target="../notesSlides/notesSlide2.xml"/><Relationship Id="rId26" Type="http://schemas.openxmlformats.org/officeDocument/2006/relationships/slideLayout" Target="../slideLayouts/slideLayout12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5" Type="http://schemas.openxmlformats.org/officeDocument/2006/relationships/notesSlide" Target="../notesSlides/notesSlide3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32.xml"/><Relationship Id="rId12" Type="http://schemas.openxmlformats.org/officeDocument/2006/relationships/tags" Target="../tags/tag31.xml"/><Relationship Id="rId11" Type="http://schemas.openxmlformats.org/officeDocument/2006/relationships/image" Target="../media/image6.svg"/><Relationship Id="rId10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jpeg"/><Relationship Id="rId7" Type="http://schemas.openxmlformats.org/officeDocument/2006/relationships/image" Target="../media/image12.jpe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5.sv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image" Target="../media/image17.jpeg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image" Target="../media/image16.jpeg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5" Type="http://schemas.openxmlformats.org/officeDocument/2006/relationships/notesSlide" Target="../notesSlides/notesSlide5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41.xml"/><Relationship Id="rId12" Type="http://schemas.openxmlformats.org/officeDocument/2006/relationships/image" Target="../media/image18.jpeg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7.svg"/><Relationship Id="rId7" Type="http://schemas.openxmlformats.org/officeDocument/2006/relationships/image" Target="../media/image26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3.jpeg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3" Type="http://schemas.openxmlformats.org/officeDocument/2006/relationships/tags" Target="../tags/tag43.xml"/><Relationship Id="rId29" Type="http://schemas.openxmlformats.org/officeDocument/2006/relationships/notesSlide" Target="../notesSlides/notesSlide8.xml"/><Relationship Id="rId28" Type="http://schemas.openxmlformats.org/officeDocument/2006/relationships/slideLayout" Target="../slideLayouts/slideLayout12.xml"/><Relationship Id="rId27" Type="http://schemas.openxmlformats.org/officeDocument/2006/relationships/tags" Target="../tags/tag59.xml"/><Relationship Id="rId26" Type="http://schemas.openxmlformats.org/officeDocument/2006/relationships/tags" Target="../tags/tag58.xml"/><Relationship Id="rId25" Type="http://schemas.openxmlformats.org/officeDocument/2006/relationships/tags" Target="../tags/tag57.xml"/><Relationship Id="rId24" Type="http://schemas.openxmlformats.org/officeDocument/2006/relationships/tags" Target="../tags/tag56.xml"/><Relationship Id="rId23" Type="http://schemas.openxmlformats.org/officeDocument/2006/relationships/image" Target="../media/image31.svg"/><Relationship Id="rId22" Type="http://schemas.openxmlformats.org/officeDocument/2006/relationships/image" Target="../media/image30.png"/><Relationship Id="rId21" Type="http://schemas.openxmlformats.org/officeDocument/2006/relationships/tags" Target="../tags/tag55.xml"/><Relationship Id="rId20" Type="http://schemas.openxmlformats.org/officeDocument/2006/relationships/tags" Target="../tags/tag54.xml"/><Relationship Id="rId2" Type="http://schemas.openxmlformats.org/officeDocument/2006/relationships/tags" Target="../tags/tag42.xml"/><Relationship Id="rId19" Type="http://schemas.openxmlformats.org/officeDocument/2006/relationships/tags" Target="../tags/tag53.xml"/><Relationship Id="rId18" Type="http://schemas.openxmlformats.org/officeDocument/2006/relationships/image" Target="../media/image29.svg"/><Relationship Id="rId17" Type="http://schemas.openxmlformats.org/officeDocument/2006/relationships/image" Target="../media/image28.png"/><Relationship Id="rId16" Type="http://schemas.openxmlformats.org/officeDocument/2006/relationships/tags" Target="../tags/tag52.xml"/><Relationship Id="rId15" Type="http://schemas.openxmlformats.org/officeDocument/2006/relationships/tags" Target="../tags/tag51.xml"/><Relationship Id="rId14" Type="http://schemas.openxmlformats.org/officeDocument/2006/relationships/tags" Target="../tags/tag50.xml"/><Relationship Id="rId13" Type="http://schemas.openxmlformats.org/officeDocument/2006/relationships/image" Target="../media/image6.svg"/><Relationship Id="rId12" Type="http://schemas.openxmlformats.org/officeDocument/2006/relationships/image" Target="../media/image5.png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6.jpeg"/><Relationship Id="rId5" Type="http://schemas.openxmlformats.org/officeDocument/2006/relationships/image" Target="../media/image35.svg"/><Relationship Id="rId4" Type="http://schemas.openxmlformats.org/officeDocument/2006/relationships/image" Target="../media/image34.png"/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png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8" Type="http://schemas.openxmlformats.org/officeDocument/2006/relationships/notesSlide" Target="../notesSlides/notesSlide10.xml"/><Relationship Id="rId17" Type="http://schemas.openxmlformats.org/officeDocument/2006/relationships/slideLayout" Target="../slideLayouts/slideLayout12.xml"/><Relationship Id="rId16" Type="http://schemas.openxmlformats.org/officeDocument/2006/relationships/tags" Target="../tags/tag68.xml"/><Relationship Id="rId15" Type="http://schemas.openxmlformats.org/officeDocument/2006/relationships/image" Target="../media/image41.svg"/><Relationship Id="rId14" Type="http://schemas.openxmlformats.org/officeDocument/2006/relationships/image" Target="../media/image40.png"/><Relationship Id="rId13" Type="http://schemas.openxmlformats.org/officeDocument/2006/relationships/tags" Target="../tags/tag67.xml"/><Relationship Id="rId12" Type="http://schemas.openxmlformats.org/officeDocument/2006/relationships/tags" Target="../tags/tag66.xml"/><Relationship Id="rId11" Type="http://schemas.openxmlformats.org/officeDocument/2006/relationships/tags" Target="../tags/tag65.xml"/><Relationship Id="rId10" Type="http://schemas.openxmlformats.org/officeDocument/2006/relationships/image" Target="../media/image39.svg"/><Relationship Id="rId1" Type="http://schemas.openxmlformats.org/officeDocument/2006/relationships/image" Target="../media/image3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1905000"/>
            <a:ext cx="1066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RSA加密算法原理与应用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3302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非对称加密技术详解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5504815"/>
            <a:ext cx="2803525" cy="8661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张俊仁</a:t>
            </a:r>
            <a:endParaRPr lang="en-US" sz="1800" b="0" i="0" u="none" strike="noStrike">
              <a:solidFill>
                <a:srgbClr val="FFFFFF">
                  <a:alpha val="74902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2026年5月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39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286000" y="5842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spc="200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CONTENTS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1905000"/>
            <a:ext cx="5207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952500" y="20955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2032000" y="2057400"/>
            <a:ext cx="3683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非对称加密基础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对称加密 vs. 非对称加密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762000" y="3048000"/>
            <a:ext cx="5207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952500" y="32385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2032000" y="3200400"/>
            <a:ext cx="3683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RSA算法简介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起源、核心作用与应用场景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762000" y="4191000"/>
            <a:ext cx="5207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952500" y="43815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0"/>
            </p:custDataLst>
          </p:nvPr>
        </p:nvSpPr>
        <p:spPr>
          <a:xfrm>
            <a:off x="2032000" y="4343400"/>
            <a:ext cx="3683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核心数学基础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素数、欧拉函数、模运算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1"/>
            </p:custDataLst>
          </p:nvPr>
        </p:nvSpPr>
        <p:spPr>
          <a:xfrm>
            <a:off x="762000" y="5334000"/>
            <a:ext cx="5207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12"/>
            </p:custDataLst>
          </p:nvPr>
        </p:nvSpPr>
        <p:spPr>
          <a:xfrm>
            <a:off x="952500" y="55245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3"/>
            </p:custDataLst>
          </p:nvPr>
        </p:nvSpPr>
        <p:spPr>
          <a:xfrm>
            <a:off x="2032000" y="5486400"/>
            <a:ext cx="3683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密钥生成步骤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公钥与私钥的诞生过程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14"/>
            </p:custDataLst>
          </p:nvPr>
        </p:nvSpPr>
        <p:spPr>
          <a:xfrm>
            <a:off x="6223000" y="1905000"/>
            <a:ext cx="5207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>
            <p:custDataLst>
              <p:tags r:id="rId15"/>
            </p:custDataLst>
          </p:nvPr>
        </p:nvSpPr>
        <p:spPr>
          <a:xfrm>
            <a:off x="6413500" y="20955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16"/>
            </p:custDataLst>
          </p:nvPr>
        </p:nvSpPr>
        <p:spPr>
          <a:xfrm>
            <a:off x="7493000" y="2057400"/>
            <a:ext cx="3683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加解密原理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核心公式与流程解析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>
            <p:custDataLst>
              <p:tags r:id="rId17"/>
            </p:custDataLst>
          </p:nvPr>
        </p:nvSpPr>
        <p:spPr>
          <a:xfrm>
            <a:off x="6223000" y="3048000"/>
            <a:ext cx="5207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>
            <p:custDataLst>
              <p:tags r:id="rId18"/>
            </p:custDataLst>
          </p:nvPr>
        </p:nvSpPr>
        <p:spPr>
          <a:xfrm>
            <a:off x="6413500" y="32385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19"/>
            </p:custDataLst>
          </p:nvPr>
        </p:nvSpPr>
        <p:spPr>
          <a:xfrm>
            <a:off x="7493000" y="3200400"/>
            <a:ext cx="3683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完整演算实例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从数字到密文再到原文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>
            <p:custDataLst>
              <p:tags r:id="rId20"/>
            </p:custDataLst>
          </p:nvPr>
        </p:nvSpPr>
        <p:spPr>
          <a:xfrm>
            <a:off x="6223000" y="4191000"/>
            <a:ext cx="5207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>
            <p:custDataLst>
              <p:tags r:id="rId21"/>
            </p:custDataLst>
          </p:nvPr>
        </p:nvSpPr>
        <p:spPr>
          <a:xfrm>
            <a:off x="6413500" y="43815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</a:t>
            </a:r>
            <a:endParaRPr lang="en-US" sz="1100"/>
          </a:p>
        </p:txBody>
      </p:sp>
      <p:sp>
        <p:nvSpPr>
          <p:cNvPr id="25" name="AutoShape 25"/>
          <p:cNvSpPr/>
          <p:nvPr>
            <p:custDataLst>
              <p:tags r:id="rId22"/>
            </p:custDataLst>
          </p:nvPr>
        </p:nvSpPr>
        <p:spPr>
          <a:xfrm>
            <a:off x="7493000" y="4343400"/>
            <a:ext cx="3683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优缺点与实际应用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权衡与现实世界中的角色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6"/>
          <p:cNvSpPr/>
          <p:nvPr>
            <p:custDataLst>
              <p:tags r:id="rId23"/>
            </p:custDataLst>
          </p:nvPr>
        </p:nvSpPr>
        <p:spPr>
          <a:xfrm>
            <a:off x="6223000" y="5334000"/>
            <a:ext cx="5207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>
            <p:custDataLst>
              <p:tags r:id="rId24"/>
            </p:custDataLst>
          </p:nvPr>
        </p:nvSpPr>
        <p:spPr>
          <a:xfrm>
            <a:off x="6413500" y="55245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</a:t>
            </a:r>
            <a:endParaRPr lang="en-US" sz="1100"/>
          </a:p>
        </p:txBody>
      </p:sp>
      <p:sp>
        <p:nvSpPr>
          <p:cNvPr id="28" name="AutoShape 28"/>
          <p:cNvSpPr/>
          <p:nvPr>
            <p:custDataLst>
              <p:tags r:id="rId25"/>
            </p:custDataLst>
          </p:nvPr>
        </p:nvSpPr>
        <p:spPr>
          <a:xfrm>
            <a:off x="7493000" y="5486400"/>
            <a:ext cx="3683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RSA的核心思想与价值回顾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非对称加密基础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核心：密钥的“一对多”分发难题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302895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28295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651000" y="3257550"/>
            <a:ext cx="393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对称加密 (Symmetric Encryption)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1016000" y="398145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加密和解密使用</a:t>
            </a:r>
            <a:r>
              <a:rPr lang="en-US" sz="13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同一把密钥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优点：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算法简单，加解密速度极快，适合处理大量数据。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核心痛点：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在多用户网络中，</a:t>
            </a:r>
            <a:r>
              <a:rPr lang="en-US" sz="13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密钥分发困难且不安全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6223000" y="302895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328295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7112000" y="3257550"/>
            <a:ext cx="393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非对称加密 (Asymmetric Encryption)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6477000" y="398145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使用一对数学相关的密钥（公钥 + 私钥）。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分工：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公钥 (Public) 公开用于加密；私钥 (Private) 保密用于解密。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核心优势：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巧妙解决了多用户场景下的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密钥安全分发难题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RSA算法简介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06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公钥加密领域的基石 · The Cornerstone of Public-Key Cryptography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t="6155" b="6155"/>
          <a:stretch>
            <a:fillRect/>
          </a:stretch>
        </p:blipFill>
        <p:spPr>
          <a:xfrm>
            <a:off x="1016000" y="2286000"/>
            <a:ext cx="2794000" cy="1778000"/>
          </a:xfrm>
          <a:prstGeom prst="roundRect">
            <a:avLst>
              <a:gd name="adj" fmla="val 571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952500" y="4254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算法起源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4826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由麻省理工学院 (MIT) 的三位学者</a:t>
            </a:r>
            <a:r>
              <a:rPr lang="en-US" sz="13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Ron Rivest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13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Adi Shamir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</a:t>
            </a:r>
            <a:r>
              <a:rPr lang="en-US" sz="1300" b="1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Leonard Adleman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于</a:t>
            </a:r>
            <a:r>
              <a:rPr lang="en-US" sz="13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1977年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联合提出。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算法名称即取自三人姓氏首字母的缩写。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2032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635500" y="2286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核心机制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35500" y="3048000"/>
            <a:ext cx="2921000" cy="1206500"/>
          </a:xfrm>
          <a:prstGeom prst="roundRect">
            <a:avLst>
              <a:gd name="adj" fmla="val 8421"/>
            </a:avLst>
          </a:prstGeom>
          <a:solidFill>
            <a:srgbClr val="ECFE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0" y="3238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207000" y="31750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双向加密机制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📢 公钥公开，用于加密信息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🔑 私钥保密，仅接收方用于解密</a:t>
            </a:r>
            <a:endParaRPr lang="en-US" sz="12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635500" y="4508500"/>
            <a:ext cx="2921000" cy="1206500"/>
          </a:xfrm>
          <a:prstGeom prst="roundRect">
            <a:avLst>
              <a:gd name="adj" fmla="val 8421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2500" y="4699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207000" y="46355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数字签名验证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✍  发送方使用私钥进行签名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  接收方使用公钥验证真伪</a:t>
            </a:r>
            <a:endParaRPr lang="en-US" sz="12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128000" y="2032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318500" y="2286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应用场景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rcRect l="639" r="639"/>
          <a:stretch>
            <a:fillRect/>
          </a:stretch>
        </p:blipFill>
        <p:spPr>
          <a:xfrm>
            <a:off x="8318500" y="3048000"/>
            <a:ext cx="558800" cy="558800"/>
          </a:xfrm>
          <a:prstGeom prst="roundRect">
            <a:avLst>
              <a:gd name="adj" fmla="val 18181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9017000" y="30480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HTTPS 协议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建立浏览器与服务器的安全连接</a:t>
            </a:r>
            <a:endParaRPr lang="en-US" sz="11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8318500" y="4064000"/>
            <a:ext cx="558800" cy="558800"/>
          </a:xfrm>
          <a:prstGeom prst="roundRect">
            <a:avLst>
              <a:gd name="adj" fmla="val 18181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2" name="AutoShape 22"/>
          <p:cNvSpPr/>
          <p:nvPr/>
        </p:nvSpPr>
        <p:spPr>
          <a:xfrm>
            <a:off x="9017000" y="40640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数字认证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软件完整性校验与文档签署认证</a:t>
            </a:r>
            <a:endParaRPr lang="en-US" sz="11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43900" y="5080000"/>
            <a:ext cx="508000" cy="508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017000" y="50800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SSH 远程登录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服务器安全管理与身份验证通道</a:t>
            </a:r>
            <a:endParaRPr lang="en-US" sz="11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核心数学基础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理解 RSA 的三把钥匙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032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15000" b="15000"/>
          <a:stretch>
            <a:fillRect/>
          </a:stretch>
        </p:blipFill>
        <p:spPr>
          <a:xfrm>
            <a:off x="1143000" y="2286000"/>
            <a:ext cx="2540000" cy="1778000"/>
          </a:xfrm>
          <a:prstGeom prst="roundRect">
            <a:avLst>
              <a:gd name="adj" fmla="val 571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952500" y="42545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素/</a:t>
            </a:r>
            <a:r>
              <a:rPr lang="zh-CN" altLang="en-US" sz="18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质</a:t>
            </a:r>
            <a:r>
              <a:rPr lang="en-US" sz="18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 (Prime Number)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大于1的自然数，只能被 1 和自身整除。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RSA 用途：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是密钥生成的起点，算法的安全性直接依赖于对</a:t>
            </a:r>
            <a:r>
              <a:rPr lang="en-US" sz="12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大素数分解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的数学困难性。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4445000" y="2032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t="15000" b="15000"/>
          <a:stretch>
            <a:fillRect/>
          </a:stretch>
        </p:blipFill>
        <p:spPr>
          <a:xfrm>
            <a:off x="4826000" y="2286000"/>
            <a:ext cx="2540000" cy="1778000"/>
          </a:xfrm>
          <a:prstGeom prst="roundRect">
            <a:avLst>
              <a:gd name="adj" fmla="val 571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4635500" y="42545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欧拉函数 (φ(n))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在数论中，指小于 n 且与 n 互质的正整数的个数。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关键性质：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若 p 和 q 是互不相同的素数，则 φ(pq) = (p-1)(q-1)，这是计算私钥的关键。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10"/>
            </p:custDataLst>
          </p:nvPr>
        </p:nvSpPr>
        <p:spPr>
          <a:xfrm>
            <a:off x="8128000" y="2032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 t="15000" b="15000"/>
          <a:stretch>
            <a:fillRect/>
          </a:stretch>
        </p:blipFill>
        <p:spPr>
          <a:xfrm>
            <a:off x="8509000" y="2286000"/>
            <a:ext cx="2540000" cy="1778000"/>
          </a:xfrm>
          <a:prstGeom prst="roundRect">
            <a:avLst>
              <a:gd name="adj" fmla="val 571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>
            <p:custDataLst>
              <p:tags r:id="rId13"/>
            </p:custDataLst>
          </p:nvPr>
        </p:nvSpPr>
        <p:spPr>
          <a:xfrm>
            <a:off x="8318500" y="42545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模运算 (Modular Arithmetic)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即“时钟算术”，求两个整数相除后的余数，记为 a mod n。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RSA 用途：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构成了 RSA 加密与解密公式的运算基础，保证了密文还原的正确性。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密钥生成步骤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06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从两个素数到密钥对：严谨的数学逻辑构建安全基石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2032000" cy="2159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20320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2286000"/>
            <a:ext cx="177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选择素数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随机选择两个不相等的大素数</a:t>
            </a:r>
            <a:r>
              <a:rPr lang="en-US" sz="1200" b="1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</a:t>
            </a:r>
            <a:r>
              <a:rPr lang="en-US" sz="1200" b="1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，构成算法的“基因”。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2984500" y="2032000"/>
            <a:ext cx="2032000" cy="2159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2984500" y="2032000"/>
            <a:ext cx="20320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111500" y="2286000"/>
            <a:ext cx="177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计算模数 n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</a:t>
            </a:r>
            <a:r>
              <a:rPr lang="en-US" sz="1200" b="1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 = p × q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 的二进制长度直接决定了 RSA 算法的安全强度。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207000" y="2032000"/>
            <a:ext cx="2032000" cy="2159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5207000" y="2032000"/>
            <a:ext cx="20320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5334000" y="2286000"/>
            <a:ext cx="177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欧拉函数 φ(n)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</a:t>
            </a:r>
            <a:r>
              <a:rPr lang="en-US" sz="1200" b="1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φ(n) = (p-1) × (q-1)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这一步将大整数分解难题转化为密码学基础。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429500" y="2032000"/>
            <a:ext cx="2032000" cy="2159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429500" y="2032000"/>
            <a:ext cx="20320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556500" y="2286000"/>
            <a:ext cx="177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公钥指数 e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选整数</a:t>
            </a:r>
            <a:r>
              <a:rPr lang="en-US" sz="1200" b="1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 φ(n)</a:t>
            </a:r>
            <a:r>
              <a:rPr lang="en-US" sz="1200" b="1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互质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工程上常用 65537 (0x10001) 以平衡性能与安全。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9652000" y="2032000"/>
            <a:ext cx="2032000" cy="2159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652000" y="2032000"/>
            <a:ext cx="20320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9779000" y="2286000"/>
            <a:ext cx="177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私钥指数 d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计算满足</a:t>
            </a:r>
            <a:r>
              <a:rPr lang="en-US" sz="1200" b="1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(d × e) mod φ(n) = 1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的整数 d。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它是 e 的“模逆元”，需要严格保密。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62000" y="4572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A7F3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" y="4953000"/>
            <a:ext cx="711200" cy="7112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2032000" y="4889500"/>
            <a:ext cx="368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公钥 (Public Key)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包含指数与模数：</a:t>
            </a:r>
            <a:r>
              <a:rPr lang="en-US" sz="2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(e, n)</a:t>
            </a:r>
            <a:endParaRPr lang="en-US" sz="2200" b="1" i="0" u="none" strike="noStrik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223000" y="4572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4953000"/>
            <a:ext cx="711200" cy="7112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493000" y="4889500"/>
            <a:ext cx="368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私钥 (Private Key)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包含逆元与模数：</a:t>
            </a:r>
            <a:r>
              <a:rPr lang="en-US" sz="22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(d, n)</a:t>
            </a:r>
            <a:endParaRPr lang="en-US" sz="2200" b="1" i="0" u="none" strike="noStrik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779000" y="388429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5"/>
                </a:solidFill>
                <a:latin typeface="黑体" panose="02010609060101010101" charset="-122"/>
                <a:ea typeface="黑体" panose="02010609060101010101" charset="-122"/>
              </a:rPr>
              <a:t>扩展欧几里得算法</a:t>
            </a:r>
            <a:endParaRPr lang="zh-CN" altLang="en-US">
              <a:solidFill>
                <a:schemeClr val="accent5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加解密原理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06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简单的公式，强大的安全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6907" b="6907"/>
          <a:stretch>
            <a:fillRect/>
          </a:stretch>
        </p:blipFill>
        <p:spPr>
          <a:xfrm>
            <a:off x="762000" y="2032000"/>
            <a:ext cx="4318000" cy="3302000"/>
          </a:xfrm>
          <a:prstGeom prst="roundRect">
            <a:avLst>
              <a:gd name="adj" fmla="val 4615"/>
            </a:avLst>
          </a:prstGeom>
          <a:noFill/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5461000" y="2032000"/>
            <a:ext cx="5969000" cy="15875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461000" y="2032000"/>
            <a:ext cx="76200" cy="1587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500" y="22225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350000" y="2159000"/>
            <a:ext cx="4826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加密过程 (Encryption)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前提：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发送方拥有接收方的</a:t>
            </a:r>
            <a:r>
              <a:rPr lang="en-US" sz="12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公钥 (e, n)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公式：</a:t>
            </a:r>
            <a:r>
              <a:rPr lang="en-US" sz="1300" b="1" i="0" u="none" strike="noStrike">
                <a:solidFill>
                  <a:srgbClr val="0F172A"/>
                </a:solidFill>
                <a:latin typeface="Roboto Mono"/>
                <a:ea typeface="Roboto Mono"/>
                <a:cs typeface="Roboto Mono"/>
                <a:sym typeface="Roboto Mono"/>
              </a:rPr>
              <a:t>C = M^e mod n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，即明文M的e次方对n取模，得到密文C。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461000" y="3810000"/>
            <a:ext cx="5969000" cy="15875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461000" y="3810000"/>
            <a:ext cx="76200" cy="1587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78500" y="4000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350000" y="3937000"/>
            <a:ext cx="4826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解密过程 (Decryption)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前提：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接收方拥有自己的</a:t>
            </a:r>
            <a:r>
              <a:rPr lang="en-US" sz="12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私钥 (d, n)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公式：</a:t>
            </a:r>
            <a:r>
              <a:rPr lang="en-US" sz="1300" b="1" i="0" u="none" strike="noStrike">
                <a:solidFill>
                  <a:srgbClr val="0F172A"/>
                </a:solidFill>
                <a:latin typeface="Roboto Mono"/>
                <a:ea typeface="Roboto Mono"/>
                <a:cs typeface="Roboto Mono"/>
                <a:sym typeface="Roboto Mono"/>
              </a:rPr>
              <a:t>M = C^d mod n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，即密文C的d次方对n取模，还原出明文M。</a:t>
            </a:r>
            <a:endParaRPr lang="en-US" sz="12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62000" y="5588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791200"/>
            <a:ext cx="609600" cy="609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905000" y="5715000"/>
            <a:ext cx="927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1F5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核心原理：</a:t>
            </a:r>
            <a:r>
              <a:rPr lang="en-US" sz="1400" b="0" i="0" u="none" strike="noStrike">
                <a:solidFill>
                  <a:srgbClr val="F1F5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基于数论中的</a:t>
            </a:r>
            <a:r>
              <a:rPr lang="en-US" sz="14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“单向函数”</a:t>
            </a:r>
            <a:r>
              <a:rPr lang="en-US" sz="1400" b="0" i="0" u="none" strike="noStrike">
                <a:solidFill>
                  <a:srgbClr val="F1F5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，即正向进行数学运算非常容易，但是想要反向计算求出原始输入，在现有的计算能力下是“计算上不可行”的。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完整演算实例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用小数字理解全过程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032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286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447800" y="22606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01 · 密钥生成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1016000" y="29210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选择素数：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 = 61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,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 = 53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计算 n：61 × 53 =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3233</a:t>
            </a:r>
            <a:endParaRPr lang="en-US" sz="1300" b="1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计算 φ(n)：60 × 52 =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3120</a:t>
            </a:r>
            <a:endParaRPr lang="en-US" sz="1300" b="1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选择 e =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17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(互质整数)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5. 计算 d =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2753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(满足 ed ≡ 1 mod φ(n))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952500" y="4953000"/>
            <a:ext cx="2921000" cy="1016000"/>
          </a:xfrm>
          <a:prstGeom prst="roundRect">
            <a:avLst>
              <a:gd name="adj" fmla="val 10000"/>
            </a:avLst>
          </a:prstGeom>
          <a:solidFill>
            <a:srgbClr val="F0FD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1079500" y="50800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公钥 (Public): (e=17, n=3233)</a:t>
            </a:r>
            <a:br>
              <a:rPr lang="en-US" sz="1300" b="1" i="0" u="none" strike="noStrike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1" i="0" u="none" strike="noStrike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私钥 (Private): (d=2753, n=3233)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0"/>
            </p:custDataLst>
          </p:nvPr>
        </p:nvSpPr>
        <p:spPr>
          <a:xfrm>
            <a:off x="4445000" y="2032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99000" y="2286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5130800" y="22606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02 · 加密过程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5"/>
            </p:custDataLst>
          </p:nvPr>
        </p:nvSpPr>
        <p:spPr>
          <a:xfrm>
            <a:off x="4699000" y="3175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原始信息 (明文 M)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65</a:t>
            </a:r>
            <a:endParaRPr lang="en-US" sz="24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880100" y="4191000"/>
            <a:ext cx="431800" cy="4318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19"/>
            </p:custDataLst>
          </p:nvPr>
        </p:nvSpPr>
        <p:spPr>
          <a:xfrm>
            <a:off x="4699000" y="4953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使用公钥 (e, n) 计算: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 = Mᵉ mod n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65¹⁷ mod 3233 =</a:t>
            </a:r>
            <a:r>
              <a:rPr lang="en-US" sz="18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2790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(密文)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20"/>
            </p:custDataLst>
          </p:nvPr>
        </p:nvSpPr>
        <p:spPr>
          <a:xfrm>
            <a:off x="8128000" y="2032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382000" y="2286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24"/>
            </p:custDataLst>
          </p:nvPr>
        </p:nvSpPr>
        <p:spPr>
          <a:xfrm>
            <a:off x="8813800" y="22606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03 · 解密过程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25"/>
            </p:custDataLst>
          </p:nvPr>
        </p:nvSpPr>
        <p:spPr>
          <a:xfrm>
            <a:off x="8382000" y="3175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加密信息 (密文 C)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2790</a:t>
            </a:r>
            <a:endParaRPr lang="en-US" sz="24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1" name="Picture 21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563100" y="4191000"/>
            <a:ext cx="431800" cy="431800"/>
          </a:xfrm>
          <a:prstGeom prst="rect">
            <a:avLst/>
          </a:prstGeom>
        </p:spPr>
      </p:pic>
      <p:sp>
        <p:nvSpPr>
          <p:cNvPr id="22" name="AutoShape 22"/>
          <p:cNvSpPr/>
          <p:nvPr>
            <p:custDataLst>
              <p:tags r:id="rId27"/>
            </p:custDataLst>
          </p:nvPr>
        </p:nvSpPr>
        <p:spPr>
          <a:xfrm>
            <a:off x="8382000" y="4953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使用私钥 (d, n) 计算: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 = Cᵈ mod n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2790²⁷⁵³ mod 3233 =</a:t>
            </a: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65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(明文还原)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382000" y="591629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快速幂</a:t>
            </a:r>
            <a:endParaRPr lang="zh-CN" altLang="en-US"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优缺点与实际应用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权衡与现实：在安全性与效率之间寻找最佳平衡点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302000" cy="4191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2413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2413000"/>
            <a:ext cx="215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核心优势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175000"/>
            <a:ext cx="2794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🛡️安全性高：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基于大数分解数学难题，目前在合理密钥长度下极难破解。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🔑    密钥管理简单：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公钥可自由公开传播，无需建立安全通道分发，降低了管理成本。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✍️支持数字签名：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天然支持不可抵赖的数字签名功能，可有效实现身份认证与完整性校验。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445000" y="2032000"/>
            <a:ext cx="3302000" cy="4191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445000" y="2032000"/>
            <a:ext cx="3302000" cy="76200"/>
          </a:xfrm>
          <a:prstGeom prst="roundRect">
            <a:avLst>
              <a:gd name="adj" fmla="val 0"/>
            </a:avLst>
          </a:prstGeom>
          <a:solidFill>
            <a:srgbClr val="F8717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9800" y="2413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334000" y="2413000"/>
            <a:ext cx="215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主要局限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99000" y="3302000"/>
            <a:ext cx="2794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42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🐢   计算速度慢：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涉及复杂的模幂运算，加密解密速度远低于对称加密算法，不适合处理海量数据。</a:t>
            </a:r>
            <a:endParaRPr lang="en-US" sz="1100"/>
          </a:p>
          <a:p>
            <a:pPr indent="0" algn="l">
              <a:lnSpc>
                <a:spcPct val="142000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📦   密钥尺寸大：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为保证安全性，密钥长度通常需要2048位甚至4096位，增加了存储和传输的额外开销。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128000" y="2032000"/>
            <a:ext cx="3302000" cy="4191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128000" y="2032000"/>
            <a:ext cx="3302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/>
          <a:srcRect t="13636" b="13636"/>
          <a:stretch>
            <a:fillRect/>
          </a:stretch>
        </p:blipFill>
        <p:spPr>
          <a:xfrm>
            <a:off x="9080500" y="2349500"/>
            <a:ext cx="1397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8382000" y="3429000"/>
            <a:ext cx="279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混合加密系统 (Hybrid)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82000" y="41910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策略：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结合两者所长。用 RSA 加密“一次性会话密钥”，再使用对称加密算法（如 AES）加密实际数据。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优势：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完美兼顾了非对称加密的</a:t>
            </a:r>
            <a:r>
              <a:rPr lang="en-US" sz="13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高安全性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与对称加密的</a:t>
            </a:r>
            <a:r>
              <a:rPr lang="en-US" sz="13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高加解密效率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889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RSA：现代密码学的里程碑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3302000"/>
            <a:ext cx="3302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6830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778000" y="3556000"/>
            <a:ext cx="203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核心思想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巧妙利用</a:t>
            </a:r>
            <a:r>
              <a:rPr lang="en-US" sz="13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大数分解的困难性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en-US" sz="1300" b="1" i="0" u="none" strike="noStrike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模幂运算的便捷性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，构建非对称加密基石。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4445000" y="3302000"/>
            <a:ext cx="3302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99000" y="36830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1"/>
            </p:custDataLst>
          </p:nvPr>
        </p:nvSpPr>
        <p:spPr>
          <a:xfrm>
            <a:off x="5461000" y="3556000"/>
            <a:ext cx="203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重要性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彻底解决了密钥分发难题，是构建现代互联网信任体系与数字安全的基石。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8128000" y="3302000"/>
            <a:ext cx="3302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382000" y="36830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6"/>
            </p:custDataLst>
          </p:nvPr>
        </p:nvSpPr>
        <p:spPr>
          <a:xfrm>
            <a:off x="9144000" y="3556000"/>
            <a:ext cx="203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未来展望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虽面临量子计算的潜在威胁，但在可预见的未来仍将是最可靠的加密工具之一。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0" y="5461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000" b="1" i="0" u="none" strike="noStrike" spc="800">
                <a:solidFill>
                  <a:srgbClr val="2DD4B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 &amp; A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2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3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4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5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6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7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8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9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10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11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12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13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14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15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16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17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18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19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20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21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22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23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24.xml><?xml version="1.0" encoding="utf-8"?>
<p:tagLst xmlns:p="http://schemas.openxmlformats.org/presentationml/2006/main">
  <p:tag name="KSO_WM_DIAGRAM_VIRTUALLY_FRAME" val="{&quot;height&quot;:380,&quot;left&quot;:60,&quot;top&quot;:130,&quot;width&quot;:840}"/>
</p:tagLst>
</file>

<file path=ppt/tags/tag25.xml><?xml version="1.0" encoding="utf-8"?>
<p:tagLst xmlns:p="http://schemas.openxmlformats.org/presentationml/2006/main">
  <p:tag name="KSO_WM_DIAGRAM_VIRTUALLY_FRAME" val="{&quot;height&quot;:281,&quot;left&quot;:60,&quot;top&quot;:160,&quot;width&quot;:840}"/>
</p:tagLst>
</file>

<file path=ppt/tags/tag26.xml><?xml version="1.0" encoding="utf-8"?>
<p:tagLst xmlns:p="http://schemas.openxmlformats.org/presentationml/2006/main">
  <p:tag name="KSO_WM_DIAGRAM_VIRTUALLY_FRAME" val="{&quot;height&quot;:281,&quot;left&quot;:60,&quot;top&quot;:160,&quot;width&quot;:840}"/>
</p:tagLst>
</file>

<file path=ppt/tags/tag27.xml><?xml version="1.0" encoding="utf-8"?>
<p:tagLst xmlns:p="http://schemas.openxmlformats.org/presentationml/2006/main">
  <p:tag name="KSO_WM_DIAGRAM_VIRTUALLY_FRAME" val="{&quot;height&quot;:281,&quot;left&quot;:60,&quot;top&quot;:160,&quot;width&quot;:840}"/>
</p:tagLst>
</file>

<file path=ppt/tags/tag28.xml><?xml version="1.0" encoding="utf-8"?>
<p:tagLst xmlns:p="http://schemas.openxmlformats.org/presentationml/2006/main">
  <p:tag name="KSO_WM_DIAGRAM_VIRTUALLY_FRAME" val="{&quot;height&quot;:281,&quot;left&quot;:60,&quot;top&quot;:160,&quot;width&quot;:840}"/>
</p:tagLst>
</file>

<file path=ppt/tags/tag29.xml><?xml version="1.0" encoding="utf-8"?>
<p:tagLst xmlns:p="http://schemas.openxmlformats.org/presentationml/2006/main">
  <p:tag name="KSO_WM_DIAGRAM_VIRTUALLY_FRAME" val="{&quot;height&quot;:281,&quot;left&quot;:60,&quot;top&quot;:160,&quot;width&quot;:840}"/>
</p:tagLst>
</file>

<file path=ppt/tags/tag30.xml><?xml version="1.0" encoding="utf-8"?>
<p:tagLst xmlns:p="http://schemas.openxmlformats.org/presentationml/2006/main">
  <p:tag name="KSO_WM_DIAGRAM_VIRTUALLY_FRAME" val="{&quot;height&quot;:281,&quot;left&quot;:60,&quot;top&quot;:160,&quot;width&quot;:840}"/>
</p:tagLst>
</file>

<file path=ppt/tags/tag31.xml><?xml version="1.0" encoding="utf-8"?>
<p:tagLst xmlns:p="http://schemas.openxmlformats.org/presentationml/2006/main">
  <p:tag name="KSO_WM_DIAGRAM_VIRTUALLY_FRAME" val="{&quot;height&quot;:281,&quot;left&quot;:60,&quot;top&quot;:160,&quot;width&quot;:840}"/>
</p:tagLst>
</file>

<file path=ppt/tags/tag32.xml><?xml version="1.0" encoding="utf-8"?>
<p:tagLst xmlns:p="http://schemas.openxmlformats.org/presentationml/2006/main">
  <p:tag name="KSO_WM_DIAGRAM_VIRTUALLY_FRAME" val="{&quot;height&quot;:281,&quot;left&quot;:60,&quot;top&quot;:160,&quot;width&quot;:840}"/>
</p:tagLst>
</file>

<file path=ppt/tags/tag33.xml><?xml version="1.0" encoding="utf-8"?>
<p:tagLst xmlns:p="http://schemas.openxmlformats.org/presentationml/2006/main">
  <p:tag name="KSO_WM_DIAGRAM_VIRTUALLY_FRAME" val="{&quot;height&quot;:340,&quot;left&quot;:60,&quot;top&quot;:160,&quot;width&quot;:840}"/>
</p:tagLst>
</file>

<file path=ppt/tags/tag34.xml><?xml version="1.0" encoding="utf-8"?>
<p:tagLst xmlns:p="http://schemas.openxmlformats.org/presentationml/2006/main">
  <p:tag name="KSO_WM_DIAGRAM_VIRTUALLY_FRAME" val="{&quot;height&quot;:340,&quot;left&quot;:60,&quot;top&quot;:160,&quot;width&quot;:840}"/>
</p:tagLst>
</file>

<file path=ppt/tags/tag35.xml><?xml version="1.0" encoding="utf-8"?>
<p:tagLst xmlns:p="http://schemas.openxmlformats.org/presentationml/2006/main">
  <p:tag name="KSO_WM_DIAGRAM_VIRTUALLY_FRAME" val="{&quot;height&quot;:340,&quot;left&quot;:60,&quot;top&quot;:160,&quot;width&quot;:840}"/>
</p:tagLst>
</file>

<file path=ppt/tags/tag36.xml><?xml version="1.0" encoding="utf-8"?>
<p:tagLst xmlns:p="http://schemas.openxmlformats.org/presentationml/2006/main">
  <p:tag name="KSO_WM_DIAGRAM_VIRTUALLY_FRAME" val="{&quot;height&quot;:340,&quot;left&quot;:60,&quot;top&quot;:160,&quot;width&quot;:840}"/>
</p:tagLst>
</file>

<file path=ppt/tags/tag37.xml><?xml version="1.0" encoding="utf-8"?>
<p:tagLst xmlns:p="http://schemas.openxmlformats.org/presentationml/2006/main">
  <p:tag name="KSO_WM_DIAGRAM_VIRTUALLY_FRAME" val="{&quot;height&quot;:340,&quot;left&quot;:60,&quot;top&quot;:160,&quot;width&quot;:840}"/>
</p:tagLst>
</file>

<file path=ppt/tags/tag38.xml><?xml version="1.0" encoding="utf-8"?>
<p:tagLst xmlns:p="http://schemas.openxmlformats.org/presentationml/2006/main">
  <p:tag name="KSO_WM_DIAGRAM_VIRTUALLY_FRAME" val="{&quot;height&quot;:340,&quot;left&quot;:60,&quot;top&quot;:160,&quot;width&quot;:840}"/>
</p:tagLst>
</file>

<file path=ppt/tags/tag39.xml><?xml version="1.0" encoding="utf-8"?>
<p:tagLst xmlns:p="http://schemas.openxmlformats.org/presentationml/2006/main">
  <p:tag name="KSO_WM_DIAGRAM_VIRTUALLY_FRAME" val="{&quot;height&quot;:340,&quot;left&quot;:60,&quot;top&quot;:160,&quot;width&quot;:840}"/>
</p:tagLst>
</file>

<file path=ppt/tags/tag40.xml><?xml version="1.0" encoding="utf-8"?>
<p:tagLst xmlns:p="http://schemas.openxmlformats.org/presentationml/2006/main">
  <p:tag name="KSO_WM_DIAGRAM_VIRTUALLY_FRAME" val="{&quot;height&quot;:340,&quot;left&quot;:60,&quot;top&quot;:160,&quot;width&quot;:840}"/>
</p:tagLst>
</file>

<file path=ppt/tags/tag41.xml><?xml version="1.0" encoding="utf-8"?>
<p:tagLst xmlns:p="http://schemas.openxmlformats.org/presentationml/2006/main">
  <p:tag name="KSO_WM_DIAGRAM_VIRTUALLY_FRAME" val="{&quot;height&quot;:340,&quot;left&quot;:60,&quot;top&quot;:160,&quot;width&quot;:840}"/>
</p:tagLst>
</file>

<file path=ppt/tags/tag42.xml><?xml version="1.0" encoding="utf-8"?>
<p:tagLst xmlns:p="http://schemas.openxmlformats.org/presentationml/2006/main">
  <p:tag name="KSO_WM_DIAGRAM_VIRTUALLY_FRAME" val="{&quot;height&quot;:330,&quot;left&quot;:60,&quot;top&quot;:160,&quot;width&quot;:840}"/>
</p:tagLst>
</file>

<file path=ppt/tags/tag43.xml><?xml version="1.0" encoding="utf-8"?>
<p:tagLst xmlns:p="http://schemas.openxmlformats.org/presentationml/2006/main">
  <p:tag name="KSO_WM_DIAGRAM_VIRTUALLY_FRAME" val="{&quot;height&quot;:330,&quot;left&quot;:60,&quot;top&quot;:160,&quot;width&quot;:840}"/>
</p:tagLst>
</file>

<file path=ppt/tags/tag44.xml><?xml version="1.0" encoding="utf-8"?>
<p:tagLst xmlns:p="http://schemas.openxmlformats.org/presentationml/2006/main">
  <p:tag name="KSO_WM_DIAGRAM_VIRTUALLY_FRAME" val="{&quot;height&quot;:330,&quot;left&quot;:60,&quot;top&quot;:160,&quot;width&quot;:840}"/>
</p:tagLst>
</file>

<file path=ppt/tags/tag45.xml><?xml version="1.0" encoding="utf-8"?>
<p:tagLst xmlns:p="http://schemas.openxmlformats.org/presentationml/2006/main">
  <p:tag name="KSO_WM_DIAGRAM_VIRTUALLY_FRAME" val="{&quot;height&quot;:330,&quot;left&quot;:60,&quot;top&quot;:160,&quot;width&quot;:840}"/>
</p:tagLst>
</file>

<file path=ppt/tags/tag46.xml><?xml version="1.0" encoding="utf-8"?>
<p:tagLst xmlns:p="http://schemas.openxmlformats.org/presentationml/2006/main">
  <p:tag name="KSO_WM_DIAGRAM_VIRTUALLY_FRAME" val="{&quot;height&quot;:330,&quot;left&quot;:60,&quot;top&quot;:160,&quot;width&quot;:840}"/>
</p:tagLst>
</file>

<file path=ppt/tags/tag47.xml><?xml version="1.0" encoding="utf-8"?>
<p:tagLst xmlns:p="http://schemas.openxmlformats.org/presentationml/2006/main">
  <p:tag name="KSO_WM_DIAGRAM_VIRTUALLY_FRAME" val="{&quot;height&quot;:330,&quot;left&quot;:60,&quot;top&quot;:160,&quot;width&quot;:840}"/>
</p:tagLst>
</file>

<file path=ppt/tags/tag48.xml><?xml version="1.0" encoding="utf-8"?>
<p:tagLst xmlns:p="http://schemas.openxmlformats.org/presentationml/2006/main">
  <p:tag name="KSO_WM_DIAGRAM_VIRTUALLY_FRAME" val="{&quot;height&quot;:330,&quot;left&quot;:60,&quot;top&quot;:160,&quot;width&quot;:840}"/>
</p:tagLst>
</file>

<file path=ppt/tags/tag49.xml><?xml version="1.0" encoding="utf-8"?>
<p:tagLst xmlns:p="http://schemas.openxmlformats.org/presentationml/2006/main">
  <p:tag name="KSO_WM_DIAGRAM_VIRTUALLY_FRAME" val="{&quot;height&quot;:330,&quot;left&quot;:60,&quot;top&quot;:160,&quot;width&quot;:840}"/>
</p:tagLst>
</file>

<file path=ppt/tags/tag50.xml><?xml version="1.0" encoding="utf-8"?>
<p:tagLst xmlns:p="http://schemas.openxmlformats.org/presentationml/2006/main">
  <p:tag name="KSO_WM_DIAGRAM_VIRTUALLY_FRAME" val="{&quot;height&quot;:330,&quot;left&quot;:60,&quot;top&quot;:160,&quot;width&quot;:840}"/>
</p:tagLst>
</file>

<file path=ppt/tags/tag51.xml><?xml version="1.0" encoding="utf-8"?>
<p:tagLst xmlns:p="http://schemas.openxmlformats.org/presentationml/2006/main">
  <p:tag name="KSO_WM_DIAGRAM_VIRTUALLY_FRAME" val="{&quot;height&quot;:330,&quot;left&quot;:60,&quot;top&quot;:160,&quot;width&quot;:840}"/>
</p:tagLst>
</file>

<file path=ppt/tags/tag52.xml><?xml version="1.0" encoding="utf-8"?>
<p:tagLst xmlns:p="http://schemas.openxmlformats.org/presentationml/2006/main">
  <p:tag name="KSO_WM_DIAGRAM_VIRTUALLY_FRAME" val="{&quot;height&quot;:330,&quot;left&quot;:60,&quot;top&quot;:160,&quot;width&quot;:840}"/>
</p:tagLst>
</file>

<file path=ppt/tags/tag53.xml><?xml version="1.0" encoding="utf-8"?>
<p:tagLst xmlns:p="http://schemas.openxmlformats.org/presentationml/2006/main">
  <p:tag name="KSO_WM_DIAGRAM_VIRTUALLY_FRAME" val="{&quot;height&quot;:330,&quot;left&quot;:60,&quot;top&quot;:160,&quot;width&quot;:840}"/>
</p:tagLst>
</file>

<file path=ppt/tags/tag54.xml><?xml version="1.0" encoding="utf-8"?>
<p:tagLst xmlns:p="http://schemas.openxmlformats.org/presentationml/2006/main">
  <p:tag name="KSO_WM_DIAGRAM_VIRTUALLY_FRAME" val="{&quot;height&quot;:330,&quot;left&quot;:60,&quot;top&quot;:160,&quot;width&quot;:840}"/>
</p:tagLst>
</file>

<file path=ppt/tags/tag55.xml><?xml version="1.0" encoding="utf-8"?>
<p:tagLst xmlns:p="http://schemas.openxmlformats.org/presentationml/2006/main">
  <p:tag name="KSO_WM_DIAGRAM_VIRTUALLY_FRAME" val="{&quot;height&quot;:330,&quot;left&quot;:60,&quot;top&quot;:160,&quot;width&quot;:840}"/>
</p:tagLst>
</file>

<file path=ppt/tags/tag56.xml><?xml version="1.0" encoding="utf-8"?>
<p:tagLst xmlns:p="http://schemas.openxmlformats.org/presentationml/2006/main">
  <p:tag name="KSO_WM_DIAGRAM_VIRTUALLY_FRAME" val="{&quot;height&quot;:330,&quot;left&quot;:60,&quot;top&quot;:160,&quot;width&quot;:840}"/>
</p:tagLst>
</file>

<file path=ppt/tags/tag57.xml><?xml version="1.0" encoding="utf-8"?>
<p:tagLst xmlns:p="http://schemas.openxmlformats.org/presentationml/2006/main">
  <p:tag name="KSO_WM_DIAGRAM_VIRTUALLY_FRAME" val="{&quot;height&quot;:330,&quot;left&quot;:60,&quot;top&quot;:160,&quot;width&quot;:840}"/>
</p:tagLst>
</file>

<file path=ppt/tags/tag58.xml><?xml version="1.0" encoding="utf-8"?>
<p:tagLst xmlns:p="http://schemas.openxmlformats.org/presentationml/2006/main">
  <p:tag name="KSO_WM_DIAGRAM_VIRTUALLY_FRAME" val="{&quot;height&quot;:330,&quot;left&quot;:60,&quot;top&quot;:160,&quot;width&quot;:840}"/>
</p:tagLst>
</file>

<file path=ppt/tags/tag59.xml><?xml version="1.0" encoding="utf-8"?>
<p:tagLst xmlns:p="http://schemas.openxmlformats.org/presentationml/2006/main">
  <p:tag name="KSO_WM_DIAGRAM_VIRTUALLY_FRAME" val="{&quot;height&quot;:330,&quot;left&quot;:60,&quot;top&quot;:160,&quot;width&quot;:840}"/>
</p:tagLst>
</file>

<file path=ppt/tags/tag60.xml><?xml version="1.0" encoding="utf-8"?>
<p:tagLst xmlns:p="http://schemas.openxmlformats.org/presentationml/2006/main">
  <p:tag name="KSO_WM_DIAGRAM_VIRTUALLY_FRAME" val="{&quot;height&quot;:140,&quot;left&quot;:60,&quot;top&quot;:260,&quot;width&quot;:840}"/>
</p:tagLst>
</file>

<file path=ppt/tags/tag61.xml><?xml version="1.0" encoding="utf-8"?>
<p:tagLst xmlns:p="http://schemas.openxmlformats.org/presentationml/2006/main">
  <p:tag name="KSO_WM_DIAGRAM_VIRTUALLY_FRAME" val="{&quot;height&quot;:140,&quot;left&quot;:60,&quot;top&quot;:260,&quot;width&quot;:840}"/>
</p:tagLst>
</file>

<file path=ppt/tags/tag62.xml><?xml version="1.0" encoding="utf-8"?>
<p:tagLst xmlns:p="http://schemas.openxmlformats.org/presentationml/2006/main">
  <p:tag name="KSO_WM_DIAGRAM_VIRTUALLY_FRAME" val="{&quot;height&quot;:140,&quot;left&quot;:60,&quot;top&quot;:260,&quot;width&quot;:840}"/>
</p:tagLst>
</file>

<file path=ppt/tags/tag63.xml><?xml version="1.0" encoding="utf-8"?>
<p:tagLst xmlns:p="http://schemas.openxmlformats.org/presentationml/2006/main">
  <p:tag name="KSO_WM_DIAGRAM_VIRTUALLY_FRAME" val="{&quot;height&quot;:140,&quot;left&quot;:60,&quot;top&quot;:260,&quot;width&quot;:840}"/>
</p:tagLst>
</file>

<file path=ppt/tags/tag64.xml><?xml version="1.0" encoding="utf-8"?>
<p:tagLst xmlns:p="http://schemas.openxmlformats.org/presentationml/2006/main">
  <p:tag name="KSO_WM_DIAGRAM_VIRTUALLY_FRAME" val="{&quot;height&quot;:140,&quot;left&quot;:60,&quot;top&quot;:260,&quot;width&quot;:840}"/>
</p:tagLst>
</file>

<file path=ppt/tags/tag65.xml><?xml version="1.0" encoding="utf-8"?>
<p:tagLst xmlns:p="http://schemas.openxmlformats.org/presentationml/2006/main">
  <p:tag name="KSO_WM_DIAGRAM_VIRTUALLY_FRAME" val="{&quot;height&quot;:140,&quot;left&quot;:60,&quot;top&quot;:260,&quot;width&quot;:840}"/>
</p:tagLst>
</file>

<file path=ppt/tags/tag66.xml><?xml version="1.0" encoding="utf-8"?>
<p:tagLst xmlns:p="http://schemas.openxmlformats.org/presentationml/2006/main">
  <p:tag name="KSO_WM_DIAGRAM_VIRTUALLY_FRAME" val="{&quot;height&quot;:140,&quot;left&quot;:60,&quot;top&quot;:260,&quot;width&quot;:840}"/>
</p:tagLst>
</file>

<file path=ppt/tags/tag67.xml><?xml version="1.0" encoding="utf-8"?>
<p:tagLst xmlns:p="http://schemas.openxmlformats.org/presentationml/2006/main">
  <p:tag name="KSO_WM_DIAGRAM_VIRTUALLY_FRAME" val="{&quot;height&quot;:140,&quot;left&quot;:60,&quot;top&quot;:260,&quot;width&quot;:840}"/>
</p:tagLst>
</file>

<file path=ppt/tags/tag68.xml><?xml version="1.0" encoding="utf-8"?>
<p:tagLst xmlns:p="http://schemas.openxmlformats.org/presentationml/2006/main">
  <p:tag name="KSO_WM_DIAGRAM_VIRTUALLY_FRAME" val="{&quot;height&quot;:140,&quot;left&quot;:60,&quot;top&quot;:26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2481</Words>
  <Application>WPS 演示</Application>
  <PresentationFormat/>
  <Paragraphs>218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Arial</vt:lpstr>
      <vt:lpstr>Noto Sans SC</vt:lpstr>
      <vt:lpstr>黑体</vt:lpstr>
      <vt:lpstr>Roboto Mono</vt:lpstr>
      <vt:lpstr>Segoe Print</vt:lpstr>
      <vt:lpstr>微软雅黑</vt:lpstr>
      <vt:lpstr>Arial Unicode MS</vt:lpstr>
      <vt:lpstr>Roboto Mono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WPS_1601967451</cp:lastModifiedBy>
  <cp:revision>6</cp:revision>
  <dcterms:created xsi:type="dcterms:W3CDTF">2026-05-07T13:41:00Z</dcterms:created>
  <dcterms:modified xsi:type="dcterms:W3CDTF">2026-05-19T07:34:05Z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E327969CA47C4E389084EB8C13AA34FF_13</vt:lpwstr>
  </property>
  <property fmtid="{D5CDD505-2E9C-101B-9397-08002B2CF9AE}" pid="3" name="KSOProductBuildVer">
    <vt:lpwstr>2052-12.1.0.26375</vt:lpwstr>
  </property>
</Properties>
</file>