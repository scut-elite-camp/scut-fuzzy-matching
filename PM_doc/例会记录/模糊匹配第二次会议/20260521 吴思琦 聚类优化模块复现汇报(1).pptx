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6256000" cy="9144000"/>
  <p:notesSz cx="9144000" cy="16256000"/>
  <p:embeddedFontLst>
    <p:embeddedFont>
      <p:font typeface="Quattrocento Sans" panose="020B0502050000020003" pitchFamily="34" charset="0"/>
      <p:regular r:id="rId17"/>
    </p:embeddedFont>
    <p:embeddedFont>
      <p:font typeface="Quattrocento Sans" panose="020B0502050000020003" pitchFamily="34" charset="-122"/>
      <p:regular r:id="rId18"/>
    </p:embeddedFont>
    <p:embeddedFont>
      <p:font typeface="Quattrocento Sans" panose="020B0502050000020003" pitchFamily="34" charset="-120"/>
      <p:regular r:id="rId19"/>
    </p:embeddedFont>
    <p:embeddedFont>
      <p:font typeface="Liter" panose="02000503030000020004" pitchFamily="34" charset="0"/>
      <p:regular r:id="rId20"/>
    </p:embeddedFont>
    <p:embeddedFont>
      <p:font typeface="Liter" panose="02000503030000020004" pitchFamily="34" charset="-122"/>
      <p:regular r:id="rId21"/>
    </p:embeddedFont>
    <p:embeddedFont>
      <p:font typeface="Liter" panose="02000503030000020004" pitchFamily="34" charset="-120"/>
      <p:regular r:id="rId22"/>
    </p:embeddedFont>
    <p:embeddedFont>
      <p:font typeface="微软雅黑" panose="020B0503020204020204" pitchFamily="34" charset="-122"/>
      <p:regular r:id="rId23"/>
      <p:bold r:id="rId24"/>
    </p:embeddedFont>
    <p:embeddedFont>
      <p:font typeface="微软雅黑" panose="020B0503020204020204" pitchFamily="34" charset="-120"/>
      <p:regular r:id="rId25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等线" panose="02010600030101010101" charset="-122"/>
      <p:regular r:id="rId31"/>
      <p:bold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1016000"/>
            <a:ext cx="5080000" cy="3556000"/>
          </a:xfrm>
          <a:prstGeom prst="roundRect">
            <a:avLst>
              <a:gd name="adj" fmla="val 8000"/>
            </a:avLst>
          </a:prstGeom>
          <a:solidFill>
            <a:srgbClr val="2D3748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1684000" y="4572000"/>
            <a:ext cx="3810000" cy="3556000"/>
          </a:xfrm>
          <a:prstGeom prst="roundRect">
            <a:avLst>
              <a:gd name="adj" fmla="val 8000"/>
            </a:avLst>
          </a:prstGeom>
          <a:solidFill>
            <a:srgbClr val="E69850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62000" y="3302000"/>
            <a:ext cx="1016000" cy="0"/>
          </a:xfrm>
          <a:prstGeom prst="straightConnector1">
            <a:avLst/>
          </a:prstGeom>
          <a:noFill/>
          <a:ln w="50800">
            <a:solidFill>
              <a:srgbClr val="E6985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3556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聚类优化模块复现汇报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2000" y="45720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隐私保护模糊名称匹配 — 基于CKKS同态加密的聚类加速方案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5334000"/>
            <a:ext cx="7620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5588000"/>
            <a:ext cx="635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论文：Privacy-preserving Fuzzy Name Matching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Sharing Financial Intelligence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6858000"/>
            <a:ext cx="1778000" cy="457200"/>
          </a:xfrm>
          <a:prstGeom prst="roundRect">
            <a:avLst>
              <a:gd name="adj" fmla="val 16000"/>
            </a:avLst>
          </a:prstGeom>
          <a:solidFill>
            <a:srgbClr val="2D3748"/>
          </a:solidFill>
        </p:spPr>
      </p:sp>
      <p:sp>
        <p:nvSpPr>
          <p:cNvPr id="10" name="Text 8"/>
          <p:cNvSpPr/>
          <p:nvPr/>
        </p:nvSpPr>
        <p:spPr>
          <a:xfrm>
            <a:off x="762000" y="6858000"/>
            <a:ext cx="177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技术复现</a:t>
            </a:r>
            <a:endParaRPr 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2999740" y="6858000"/>
            <a:ext cx="3569970" cy="457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汇报人：吴思琦</a:t>
            </a:r>
            <a:r>
              <a:rPr lang="en-US" altLang="zh-CN"/>
              <a:t>  </a:t>
            </a:r>
            <a:r>
              <a:rPr lang="zh-CN" altLang="en-US"/>
              <a:t>日期：</a:t>
            </a:r>
            <a:r>
              <a:rPr lang="en-US" altLang="zh-CN"/>
              <a:t>2026.5.21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汇报提纲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270000" cy="0"/>
          </a:xfrm>
          <a:prstGeom prst="straightConnector1">
            <a:avLst/>
          </a:prstGeom>
          <a:noFill/>
          <a:ln w="38100">
            <a:solidFill>
              <a:srgbClr val="E69850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2032000"/>
            <a:ext cx="69850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349500"/>
            <a:ext cx="1016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6985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2385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聚类优化逻辑与流程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810000"/>
            <a:ext cx="6223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双角色协作架构、离线K-Means聚类预处理、在线加密匹配加速机制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207000"/>
            <a:ext cx="69850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5524500"/>
            <a:ext cx="1016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6985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64135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核心代码复现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6985000"/>
            <a:ext cx="6223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clustering.py 关键模块：K-Means聚类、列矩阵构建、加密搜索流程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9000" y="2032000"/>
            <a:ext cx="6985000" cy="5969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</p:spPr>
      </p:sp>
      <p:sp>
        <p:nvSpPr>
          <p:cNvPr id="13" name="Text 11"/>
          <p:cNvSpPr/>
          <p:nvPr/>
        </p:nvSpPr>
        <p:spPr>
          <a:xfrm>
            <a:off x="9017000" y="2540000"/>
            <a:ext cx="5969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核心贡献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17000" y="3302000"/>
            <a:ext cx="5969000" cy="431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基于余弦相似度的K-Means离线聚类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列矩阵(column-wise)密文操作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CT-PT / CT-CT 同态点积运算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one-hot 指示向量隐私保护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通信开销降低 30-300 倍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搜索复杂度从 O(n) 降至 O(√n)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4732000" y="8737600"/>
            <a:ext cx="76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3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6985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聚类优化逻辑与流程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4699000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基于K-Means的离线聚类与在线加密匹配加速机制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5461000"/>
            <a:ext cx="2540000" cy="0"/>
          </a:xfrm>
          <a:prstGeom prst="straightConnector1">
            <a:avLst/>
          </a:prstGeom>
          <a:noFill/>
          <a:ln w="38100">
            <a:solidFill>
              <a:srgbClr val="E6985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762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双角色协作架构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0"/>
          </a:xfrm>
          <a:prstGeom prst="straightConnector1">
            <a:avLst/>
          </a:prstGeom>
          <a:noFill/>
          <a:ln w="38100">
            <a:solidFill>
              <a:srgbClr val="E69850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524000"/>
            <a:ext cx="6858000" cy="673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270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524000"/>
            <a:ext cx="6858000" cy="635000"/>
          </a:xfrm>
          <a:prstGeom prst="roundRect">
            <a:avLst>
              <a:gd name="adj" fmla="val 4000"/>
            </a:avLst>
          </a:prstGeom>
          <a:solidFill>
            <a:srgbClr val="2D3748"/>
          </a:solidFill>
        </p:spPr>
      </p:sp>
      <p:sp>
        <p:nvSpPr>
          <p:cNvPr id="6" name="Text 4"/>
          <p:cNvSpPr/>
          <p:nvPr/>
        </p:nvSpPr>
        <p:spPr>
          <a:xfrm>
            <a:off x="762000" y="1524000"/>
            <a:ext cx="685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Party B（Responder）</a:t>
            </a:r>
            <a:r>
              <a:rPr lang="en-US" sz="20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离线预处理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13000"/>
            <a:ext cx="6223000" cy="577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EL=200 MinHash 签名生成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对名称集合进行3-gram shingle编码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L2 归一化 + StandardScaler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标准化处理，使数据均值为0、方差为1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K-Means 聚类（cosine similarity）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簇数 k ≈ √|N_B|，迭代20轮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4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EL=50 签名构建列矩阵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按cluster分组，padding至最大簇大小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5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在线：密文质心比较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CT-PT dot product 计算加密相似度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6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在线：密文列式匹配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CT-CT 运算，逐列比较后返回加密score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0" y="1524000"/>
            <a:ext cx="6858000" cy="673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270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36000" y="1524000"/>
            <a:ext cx="6858000" cy="635000"/>
          </a:xfrm>
          <a:prstGeom prst="roundRect">
            <a:avLst>
              <a:gd name="adj" fmla="val 4000"/>
            </a:avLst>
          </a:prstGeom>
          <a:solidFill>
            <a:srgbClr val="E69850"/>
          </a:solidFill>
        </p:spPr>
      </p:sp>
      <p:sp>
        <p:nvSpPr>
          <p:cNvPr id="10" name="Text 8"/>
          <p:cNvSpPr/>
          <p:nvPr/>
        </p:nvSpPr>
        <p:spPr>
          <a:xfrm>
            <a:off x="8636000" y="1524000"/>
            <a:ext cx="685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Party A（Querier）</a:t>
            </a:r>
            <a:r>
              <a:rPr lang="en-US" sz="20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在线查询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53500" y="2413000"/>
            <a:ext cx="6223000" cy="577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生成 query 的双长度签名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EL=200 用于质心比较，EL=50 用于匹配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L2归一化 + Scaler 标准化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query200 做完整标准化，query50 仅L2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CKKS 加密 query200_scaled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使用A的公钥加密，发送给B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4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解密质心相似度分数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选择最相似的cluster，构造one-hot向量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5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加密 sign vector + query50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发送给B进行列式匹配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698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6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解密列匹配score，判断catch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score &gt; 0 表示潜在匹配，仅知正负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0" y="4699000"/>
            <a:ext cx="1016000" cy="0"/>
          </a:xfrm>
          <a:prstGeom prst="straightConnector1">
            <a:avLst/>
          </a:prstGeom>
          <a:noFill/>
          <a:ln w="25400">
            <a:solidFill>
              <a:srgbClr val="718096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7620000" y="43180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交互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4732000" y="8737600"/>
            <a:ext cx="76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762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聚类优化核心流程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0"/>
          </a:xfrm>
          <a:prstGeom prst="straightConnector1">
            <a:avLst/>
          </a:prstGeom>
          <a:noFill/>
          <a:ln w="38100">
            <a:solidFill>
              <a:srgbClr val="E69850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460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D3748"/>
          </a:solidFill>
        </p:spPr>
      </p:sp>
      <p:sp>
        <p:nvSpPr>
          <p:cNvPr id="5" name="Text 3"/>
          <p:cNvSpPr/>
          <p:nvPr/>
        </p:nvSpPr>
        <p:spPr>
          <a:xfrm>
            <a:off x="762000" y="1460500"/>
            <a:ext cx="1524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离线阶段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574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6000" y="2184400"/>
            <a:ext cx="711200" cy="355600"/>
          </a:xfrm>
          <a:prstGeom prst="roundRect">
            <a:avLst>
              <a:gd name="adj" fmla="val 14000"/>
            </a:avLst>
          </a:prstGeom>
          <a:solidFill>
            <a:srgbClr val="E69850"/>
          </a:solidFill>
        </p:spPr>
      </p:sp>
      <p:sp>
        <p:nvSpPr>
          <p:cNvPr id="8" name="Text 6"/>
          <p:cNvSpPr/>
          <p:nvPr/>
        </p:nvSpPr>
        <p:spPr>
          <a:xfrm>
            <a:off x="1016000" y="2184400"/>
            <a:ext cx="711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2057400"/>
            <a:ext cx="13208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K-Means 聚类</a:t>
            </a: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对 EL=200 MinHash 签名执行 L2归一化 → StandardScaler → K-Means(k≈√n)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输出：centroids(k×200)、assignments、scaler、col_matrix(k×max_size×50)、mask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3238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E69850"/>
          </a:solidFill>
        </p:spPr>
      </p:sp>
      <p:sp>
        <p:nvSpPr>
          <p:cNvPr id="11" name="Text 9"/>
          <p:cNvSpPr/>
          <p:nvPr/>
        </p:nvSpPr>
        <p:spPr>
          <a:xfrm>
            <a:off x="762000" y="3238500"/>
            <a:ext cx="1524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在线阶段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8354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2500" y="3962400"/>
            <a:ext cx="711200" cy="355600"/>
          </a:xfrm>
          <a:prstGeom prst="roundRect">
            <a:avLst>
              <a:gd name="adj" fmla="val 14000"/>
            </a:avLst>
          </a:prstGeom>
          <a:solidFill>
            <a:srgbClr val="2D3748"/>
          </a:solidFill>
        </p:spPr>
      </p:sp>
      <p:sp>
        <p:nvSpPr>
          <p:cNvPr id="14" name="Text 12"/>
          <p:cNvSpPr/>
          <p:nvPr/>
        </p:nvSpPr>
        <p:spPr>
          <a:xfrm>
            <a:off x="952500" y="3962400"/>
            <a:ext cx="711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A-1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3835400"/>
            <a:ext cx="3492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加密 query200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CKKS 加密标准化后的查询向量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1000" y="4254500"/>
            <a:ext cx="508000" cy="0"/>
          </a:xfrm>
          <a:prstGeom prst="straightConnector1">
            <a:avLst/>
          </a:prstGeom>
          <a:noFill/>
          <a:ln w="25400">
            <a:solidFill>
              <a:srgbClr val="71809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969000" y="38354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59500" y="3962400"/>
            <a:ext cx="711200" cy="355600"/>
          </a:xfrm>
          <a:prstGeom prst="roundRect">
            <a:avLst>
              <a:gd name="adj" fmla="val 14000"/>
            </a:avLst>
          </a:prstGeom>
          <a:solidFill>
            <a:srgbClr val="2D3748"/>
          </a:solidFill>
        </p:spPr>
      </p:sp>
      <p:sp>
        <p:nvSpPr>
          <p:cNvPr id="19" name="Text 17"/>
          <p:cNvSpPr/>
          <p:nvPr/>
        </p:nvSpPr>
        <p:spPr>
          <a:xfrm>
            <a:off x="6159500" y="3962400"/>
            <a:ext cx="711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B-2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5000" y="3835400"/>
            <a:ext cx="3492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CT-PT 质心比较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计算与所有 centroid 的加密相似度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4254500"/>
            <a:ext cx="508000" cy="0"/>
          </a:xfrm>
          <a:prstGeom prst="straightConnector1">
            <a:avLst/>
          </a:prstGeom>
          <a:noFill/>
          <a:ln w="25400">
            <a:solidFill>
              <a:srgbClr val="718096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176000" y="3835400"/>
            <a:ext cx="4318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366500" y="3962400"/>
            <a:ext cx="711200" cy="355600"/>
          </a:xfrm>
          <a:prstGeom prst="roundRect">
            <a:avLst>
              <a:gd name="adj" fmla="val 14000"/>
            </a:avLst>
          </a:prstGeom>
          <a:solidFill>
            <a:srgbClr val="E69850"/>
          </a:solidFill>
        </p:spPr>
      </p:sp>
      <p:sp>
        <p:nvSpPr>
          <p:cNvPr id="24" name="Text 22"/>
          <p:cNvSpPr/>
          <p:nvPr/>
        </p:nvSpPr>
        <p:spPr>
          <a:xfrm>
            <a:off x="11366500" y="3962400"/>
            <a:ext cx="711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A-2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92000" y="3835400"/>
            <a:ext cx="3111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 + one-hot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选最相似簇，构造指示向量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207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6000" y="5334000"/>
            <a:ext cx="711200" cy="355600"/>
          </a:xfrm>
          <a:prstGeom prst="roundRect">
            <a:avLst>
              <a:gd name="adj" fmla="val 14000"/>
            </a:avLst>
          </a:prstGeom>
          <a:solidFill>
            <a:srgbClr val="2D3748"/>
          </a:solidFill>
        </p:spPr>
      </p:sp>
      <p:sp>
        <p:nvSpPr>
          <p:cNvPr id="28" name="Text 26"/>
          <p:cNvSpPr/>
          <p:nvPr/>
        </p:nvSpPr>
        <p:spPr>
          <a:xfrm>
            <a:off x="1016000" y="5334000"/>
            <a:ext cx="711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B-3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05000" y="5207000"/>
            <a:ext cx="13208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Column-Wise 密文列式匹配</a:t>
            </a:r>
            <a:r>
              <a:rPr lang="en-US" sz="1600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对每列执行：E(S)·column → CT-CT乘法 → 累加得 cosine similarity → 减阈值τ → 乘随机数r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核心优化：将 O(n) 串行比较降为 O(√n) 列操作，通信从 314GB 降至 1-2GB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4516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6000" y="6578600"/>
            <a:ext cx="711200" cy="355600"/>
          </a:xfrm>
          <a:prstGeom prst="roundRect">
            <a:avLst>
              <a:gd name="adj" fmla="val 14000"/>
            </a:avLst>
          </a:prstGeom>
          <a:solidFill>
            <a:srgbClr val="E69850"/>
          </a:solidFill>
        </p:spPr>
      </p:sp>
      <p:sp>
        <p:nvSpPr>
          <p:cNvPr id="32" name="Text 30"/>
          <p:cNvSpPr/>
          <p:nvPr/>
        </p:nvSpPr>
        <p:spPr>
          <a:xfrm>
            <a:off x="1016000" y="6578600"/>
            <a:ext cx="711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A-3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905000" y="6451600"/>
            <a:ext cx="13208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解密判断 Catch</a:t>
            </a:r>
            <a:r>
              <a:rPr lang="en-US" sz="1600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A 解密每列 score，score &gt; 0 表示潜在匹配（仅知正负，不知具体相似度）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隐私保证：B 全程不获知 query 内容，A 仅获知是否匹配而不获知匹配项的 closeness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7747000"/>
            <a:ext cx="50800" cy="635000"/>
          </a:xfrm>
          <a:prstGeom prst="rect">
            <a:avLst/>
          </a:prstGeom>
          <a:solidFill>
            <a:srgbClr val="E69850"/>
          </a:solidFill>
        </p:spPr>
      </p:sp>
      <p:sp>
        <p:nvSpPr>
          <p:cNvPr id="35" name="Text 33"/>
          <p:cNvSpPr/>
          <p:nvPr/>
        </p:nvSpPr>
        <p:spPr>
          <a:xfrm>
            <a:off x="1016000" y="7747000"/>
            <a:ext cx="14224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6985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核心优势：</a:t>
            </a:r>
            <a:r>
              <a:rPr lang="en-US" sz="1600" dirty="0">
                <a:solidFill>
                  <a:srgbClr val="1A20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聚类将搜索空间从 |N_B| 降至 k×max_cluster_size ≈ √n × √n，精度保持 perfect precision，召回率仅轻微下降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4732000" y="8737600"/>
            <a:ext cx="76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3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6985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核心代码复现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4699000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clustering.py 关键模块实现与加密搜索流程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5461000"/>
            <a:ext cx="2540000" cy="0"/>
          </a:xfrm>
          <a:prstGeom prst="straightConnector1">
            <a:avLst/>
          </a:prstGeom>
          <a:noFill/>
          <a:ln w="38100">
            <a:solidFill>
              <a:srgbClr val="E6985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K-Means 聚类与列矩阵构建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0414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run_kmeans() &amp; build_column_matrix() — Party B 离线预处理核心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5000" y="1460500"/>
            <a:ext cx="15407931" cy="72390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effectLst>
            <a:outerShdw blurRad="203200" dist="101600" dir="5400000" algn="bl" rotWithShape="0">
              <a:srgbClr val="000000">
                <a:alpha val="2078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38300"/>
            <a:ext cx="152400" cy="152400"/>
          </a:xfrm>
          <a:prstGeom prst="ellipse">
            <a:avLst/>
          </a:prstGeom>
          <a:solidFill>
            <a:srgbClr val="FF5F56"/>
          </a:solidFill>
        </p:spPr>
      </p:sp>
      <p:sp>
        <p:nvSpPr>
          <p:cNvPr id="6" name="Shape 4"/>
          <p:cNvSpPr/>
          <p:nvPr/>
        </p:nvSpPr>
        <p:spPr>
          <a:xfrm>
            <a:off x="1168400" y="1638300"/>
            <a:ext cx="152400" cy="152400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422400" y="1638300"/>
            <a:ext cx="152400" cy="152400"/>
          </a:xfrm>
          <a:prstGeom prst="ellipse">
            <a:avLst/>
          </a:prstGeom>
          <a:solidFill>
            <a:srgbClr val="27C93F"/>
          </a:solidFill>
        </p:spPr>
      </p:sp>
      <p:sp>
        <p:nvSpPr>
          <p:cNvPr id="8" name="Text 6"/>
          <p:cNvSpPr/>
          <p:nvPr/>
        </p:nvSpPr>
        <p:spPr>
          <a:xfrm>
            <a:off x="1778000" y="1587500"/>
            <a:ext cx="381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clustering.py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0" y="1968500"/>
            <a:ext cx="4460710" cy="673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run_kmeans: 对 MinHash 签名执行聚类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200" dirty="0">
                <a:solidFill>
                  <a:srgbClr val="82A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run_kmeans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(matrix, k=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None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max_iter=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seed=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42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):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matrix = np.asarray(matrix, dtype=np.float32)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n_samples = matrix.shape[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if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k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is None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: k = K_CLUSTERS_FUNC(n_samples)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k ≈ sqrt(n)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 = max(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min(int(k), n_samples))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matrix_norm = l2_normalize(matrix)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L2 归一化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scaler = fit_scaler(matrix_norm)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StandardScaler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matrix_scaled = transform(matrix_norm, scaler)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kmeans = KMeans(n_clusters=k, max_iter=max_iter,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random_state=seed, n_init=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assignments = kmeans.fit_predict(matrix_scaled)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centroids = kmeans.cluster_centers_.astype(np.float32)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return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centroids, assignments, scaler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build_column_matrix: 按 cluster 构建列矩阵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200" dirty="0">
                <a:solidFill>
                  <a:srgbClr val="82A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build_column_matrix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(sig50, assignments):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sig50_norm = l2_normalize(sig50)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 = int(assignments.max()) + 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clusters = [sig50_norm[assignments == cid]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cid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range(k)]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max_size = max(len(c)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clusters)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col_matrix = np.zeros((k, max_size, 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), dtype=np.float32)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8788400"/>
            <a:ext cx="1473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7939" y="1615530"/>
            <a:ext cx="7307480" cy="20323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mask = np.zeros((k, max_size), dtype=bool)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cid, cluster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enumerate(clusters):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size = len(cluster)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if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size == </a:t>
            </a:r>
            <a:r>
              <a:rPr lang="en-US" sz="1200" dirty="0">
                <a:solidFill>
                  <a:srgbClr val="F78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: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continue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col_matrix[cid, :size, :] = cluster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mask[cid, :size] =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True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return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col_matrix, mask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加密质心比较与列式匹配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041400"/>
            <a:ext cx="762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encrypted_compare_to_centroids() &amp; encrypted_column_wise_match()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5000" y="1460500"/>
            <a:ext cx="14986000" cy="72390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effectLst>
            <a:outerShdw blurRad="203200" dist="101600" dir="5400000" algn="bl" rotWithShape="0">
              <a:srgbClr val="000000">
                <a:alpha val="2078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38300"/>
            <a:ext cx="152400" cy="152400"/>
          </a:xfrm>
          <a:prstGeom prst="ellipse">
            <a:avLst/>
          </a:prstGeom>
          <a:solidFill>
            <a:srgbClr val="FF5F56"/>
          </a:solidFill>
        </p:spPr>
      </p:sp>
      <p:sp>
        <p:nvSpPr>
          <p:cNvPr id="6" name="Shape 4"/>
          <p:cNvSpPr/>
          <p:nvPr/>
        </p:nvSpPr>
        <p:spPr>
          <a:xfrm>
            <a:off x="1168400" y="1638300"/>
            <a:ext cx="152400" cy="152400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422400" y="1638300"/>
            <a:ext cx="152400" cy="152400"/>
          </a:xfrm>
          <a:prstGeom prst="ellipse">
            <a:avLst/>
          </a:prstGeom>
          <a:solidFill>
            <a:srgbClr val="27C93F"/>
          </a:solidFill>
        </p:spPr>
      </p:sp>
      <p:sp>
        <p:nvSpPr>
          <p:cNvPr id="8" name="Text 6"/>
          <p:cNvSpPr/>
          <p:nvPr/>
        </p:nvSpPr>
        <p:spPr>
          <a:xfrm>
            <a:off x="1778000" y="1587500"/>
            <a:ext cx="381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clustering.py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0" y="1968500"/>
            <a:ext cx="5744457" cy="673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Party B: CT-PT dot product with centroids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200" dirty="0">
                <a:solidFill>
                  <a:srgbClr val="82A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encrypted_compare_to_centroids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(ct_query200, centroids):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encrypted_scores = []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centroid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centroids: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centroid = np.asarray(centroid, dtype=np.float64)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ct_score = ct_query200.dot(centroid.tolist())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CT-PT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encrypted_scores.append(ct_score)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return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encrypted_scores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Party B: column-wise ciphertext matching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200" dirty="0">
                <a:solidFill>
                  <a:srgbClr val="82A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encrypted_column_wise_match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(ct_q50, ct_sign, col_matrix, tau):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k, max_size, dim = col_matrix.shape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encrypted_column_scores = []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rng = np.random.default_rng()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col_id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range(max_size):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iterate columns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encrypted_products = []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d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range(dim):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iterate dimensions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col_vals = col_matrix[:, col_id, d].astype(np.float64)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ct_selected = ct_sign.dot(col_vals.tolist())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select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ct_product = ct_selected * ct_query50_parts[d]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CT-CT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encrypted_products.append(ct_product)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ct_cos_score = encrypted_products[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8788400"/>
            <a:ext cx="1473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66916" y="1705303"/>
            <a:ext cx="6948390" cy="20323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encrypted_products[</a:t>
            </a:r>
            <a:r>
              <a:rPr lang="en-US" sz="1200" dirty="0">
                <a:solidFill>
                  <a:srgbClr val="F78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:]: </a:t>
            </a:r>
            <a:r>
              <a:rPr lang="en-US" sz="1200" dirty="0">
                <a:solidFill>
                  <a:srgbClr val="676E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 sum = dot product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ct_cos_score = ct_cos_score + 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ct_score = ct_cos_score - float(tau) </a:t>
            </a:r>
            <a:r>
              <a:rPr lang="en-US" sz="1200" dirty="0">
                <a:solidFill>
                  <a:srgbClr val="676E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 subtract threshold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= int(rng.integers(</a:t>
            </a:r>
            <a:r>
              <a:rPr lang="en-US" sz="1200" dirty="0">
                <a:solidFill>
                  <a:srgbClr val="F78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, </a:t>
            </a:r>
            <a:r>
              <a:rPr lang="en-US" sz="1200" dirty="0">
                <a:solidFill>
                  <a:srgbClr val="F78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ct_score = ct_score * float(r) </a:t>
            </a:r>
            <a:r>
              <a:rPr lang="en-US" sz="1200" dirty="0">
                <a:solidFill>
                  <a:srgbClr val="676E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 randomize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encrypted_column_scores.append(ct_score)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return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encrypted_column_scores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ClusteringOptimizer 主类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041400"/>
            <a:ext cx="762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fit() → encrypted_search() — 完整搜索流程封装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5000" y="1460500"/>
            <a:ext cx="14986000" cy="72390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effectLst>
            <a:outerShdw blurRad="203200" dist="101600" dir="5400000" algn="bl" rotWithShape="0">
              <a:srgbClr val="000000">
                <a:alpha val="2078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38300"/>
            <a:ext cx="152400" cy="152400"/>
          </a:xfrm>
          <a:prstGeom prst="ellipse">
            <a:avLst/>
          </a:prstGeom>
          <a:solidFill>
            <a:srgbClr val="FF5F56"/>
          </a:solidFill>
        </p:spPr>
      </p:sp>
      <p:sp>
        <p:nvSpPr>
          <p:cNvPr id="6" name="Shape 4"/>
          <p:cNvSpPr/>
          <p:nvPr/>
        </p:nvSpPr>
        <p:spPr>
          <a:xfrm>
            <a:off x="1168400" y="1638300"/>
            <a:ext cx="152400" cy="152400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422400" y="1638300"/>
            <a:ext cx="152400" cy="152400"/>
          </a:xfrm>
          <a:prstGeom prst="ellipse">
            <a:avLst/>
          </a:prstGeom>
          <a:solidFill>
            <a:srgbClr val="27C93F"/>
          </a:solidFill>
        </p:spPr>
      </p:sp>
      <p:sp>
        <p:nvSpPr>
          <p:cNvPr id="8" name="Text 6"/>
          <p:cNvSpPr/>
          <p:nvPr/>
        </p:nvSpPr>
        <p:spPr>
          <a:xfrm>
            <a:off x="1778000" y="1587500"/>
            <a:ext cx="381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clustering.py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0" y="1968500"/>
            <a:ext cx="6327978" cy="660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class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200" dirty="0">
                <a:solidFill>
                  <a:srgbClr val="82A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ClusteringOptimizer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: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200" dirty="0">
                <a:solidFill>
                  <a:srgbClr val="82A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fit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(self, names_B):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Party B offline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sig200 = batch_encode(names_B, NUM_PERM=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sig50 = batch_encode(names_B, NUM_PERM=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self.centroids, self.assignments, self.scaler = run_kmeans(sig200, k=self.k)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self.col_matrix, self.mask = build_column_matrix(sig50, self.assignments)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200" dirty="0">
                <a:solidFill>
                  <a:srgbClr val="82A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encrypted_search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(self, query, ctx, sk): </a:t>
            </a: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Party A online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1. Encode &amp; normalize query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q200 = batch_encode([query], NUM_PERM=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)[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q50 = batch_encode([query], NUM_PERM=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)[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q200_s = self.scaler.transform(l2_normalize(q200))[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q50_n = l2_normalize(q50)[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]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2. Encrypt query200, CT-PT centroid comparison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ct_q200 = encrypt(q200_s.astype(np.float64), ctx)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enc_scores = encrypted_compare_to_centroids(ct_q200, self.centroids)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scores = decrypt_encrypted_scores(enc_scores, sk)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cid = int(np.argmax(scores))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76E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 3. Build one-hot sign vector, encrypt query50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sign = np.zeros(self.centroids.shape[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], dtype=np.float64)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sign[cid] = </a:t>
            </a:r>
            <a:r>
              <a:rPr lang="en-US" sz="1200" dirty="0">
                <a:solidFill>
                  <a:srgbClr val="F78C6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1.0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; ct_sign = encrypt(sign, ctx)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ct_q50 = [encrypt(np.array([float(v)]), ctx)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v </a:t>
            </a:r>
            <a:r>
              <a:rPr lang="en-US" sz="1200" dirty="0">
                <a:solidFill>
                  <a:srgbClr val="C792E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q50_n]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732000" y="8737600"/>
            <a:ext cx="76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2597" y="1875871"/>
            <a:ext cx="6463618" cy="12767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76E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 4. Column-wise match &amp; decrypt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enc_cols = encrypted_column_wise_match(ct_q50, ct_sign, self.col_matrix, self.tau)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decrypted = [decrypt(s, sk)[</a:t>
            </a:r>
            <a:r>
              <a:rPr lang="en-US" sz="1200" dirty="0">
                <a:solidFill>
                  <a:srgbClr val="F78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]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s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enc_cols]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return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{</a:t>
            </a:r>
            <a:r>
              <a:rPr lang="en-US" sz="1200" dirty="0">
                <a:solidFill>
                  <a:srgbClr val="C3E8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"catch"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: any(s &gt; </a:t>
            </a:r>
            <a:r>
              <a:rPr lang="en-US" sz="1200" dirty="0">
                <a:solidFill>
                  <a:srgbClr val="F78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s </a:t>
            </a:r>
            <a:r>
              <a:rPr lang="en-US" sz="1200" dirty="0">
                <a:solidFill>
                  <a:srgbClr val="C792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decrypted), </a:t>
            </a:r>
            <a:r>
              <a:rPr lang="en-US" sz="1200" dirty="0">
                <a:solidFill>
                  <a:srgbClr val="C3E8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"cluster_id"</a:t>
            </a:r>
            <a:r>
              <a:rPr lang="en-US" sz="12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: cid}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2540000"/>
            <a:ext cx="5080000" cy="101600"/>
          </a:xfrm>
          <a:prstGeom prst="roundRect">
            <a:avLst>
              <a:gd name="adj" fmla="val 50000"/>
            </a:avLst>
          </a:prstGeom>
          <a:solidFill>
            <a:srgbClr val="E69850"/>
          </a:solidFill>
        </p:spPr>
      </p:sp>
      <p:sp>
        <p:nvSpPr>
          <p:cNvPr id="3" name="Text 1"/>
          <p:cNvSpPr/>
          <p:nvPr/>
        </p:nvSpPr>
        <p:spPr>
          <a:xfrm>
            <a:off x="3048000" y="30480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谢谢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聚类优化模块复现完成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588000" y="6350000"/>
            <a:ext cx="5080000" cy="101600"/>
          </a:xfrm>
          <a:prstGeom prst="roundRect">
            <a:avLst>
              <a:gd name="adj" fmla="val 50000"/>
            </a:avLst>
          </a:prstGeom>
          <a:solidFill>
            <a:srgbClr val="E69850"/>
          </a:solidFill>
        </p:spPr>
      </p:sp>
      <p:sp>
        <p:nvSpPr>
          <p:cNvPr id="6" name="Text 4"/>
          <p:cNvSpPr/>
          <p:nvPr/>
        </p:nvSpPr>
        <p:spPr>
          <a:xfrm>
            <a:off x="6141809" y="4981998"/>
            <a:ext cx="6921458" cy="336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初步优化方向：选择相似度排名前k的cluster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5389</Words>
  <Application>WPS 演示</Application>
  <PresentationFormat>On-screen Show (16:9)</PresentationFormat>
  <Paragraphs>244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宋体</vt:lpstr>
      <vt:lpstr>Wingdings</vt:lpstr>
      <vt:lpstr>QuattrocentoSans</vt:lpstr>
      <vt:lpstr>FFont-Family</vt:lpstr>
      <vt:lpstr>QuattrocentoSans</vt:lpstr>
      <vt:lpstr>QuattrocentoSans</vt:lpstr>
      <vt:lpstr>Quattrocento Sans</vt:lpstr>
      <vt:lpstr>Quattrocento Sans</vt:lpstr>
      <vt:lpstr>Quattrocento Sans</vt:lpstr>
      <vt:lpstr>Liter</vt:lpstr>
      <vt:lpstr>Liter</vt:lpstr>
      <vt:lpstr>Liter</vt:lpstr>
      <vt:lpstr>微软雅黑</vt:lpstr>
      <vt:lpstr>微软雅黑</vt:lpstr>
      <vt:lpstr>Calibri</vt:lpstr>
      <vt:lpstr>Arial Unicode MS</vt:lpstr>
      <vt:lpstr>等线</vt:lpstr>
      <vt:lpstr>MS PGothic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聚类优化模块复现汇报</dc:title>
  <dc:creator>Kimi</dc:creator>
  <dc:subject>聚类优化模块复现汇报</dc:subject>
  <cp:lastModifiedBy>呵</cp:lastModifiedBy>
  <cp:revision>2</cp:revision>
  <dcterms:created xsi:type="dcterms:W3CDTF">2026-05-19T13:04:00Z</dcterms:created>
  <dcterms:modified xsi:type="dcterms:W3CDTF">2026-05-21T09:26:13Z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聚类优化模块复现汇报","ContentProducer":"001191110108MACG2KBH8F10000","ProduceID":"19e40429-8732-8f52-8000-0000f56da62a","ReservedCode1":"","ContentPropagator":"001191110108MACG2KBH8F20000","PropagateID":"19e40429-8732-8f52-8000-0000f56da62a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AB987E5019B14D65808EE1482BBB89D3_12</vt:lpwstr>
  </property>
</Properties>
</file>