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6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4.sv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44.svg"/><Relationship Id="rId13" Type="http://schemas.openxmlformats.org/officeDocument/2006/relationships/image" Target="../media/image43.png"/><Relationship Id="rId12" Type="http://schemas.openxmlformats.org/officeDocument/2006/relationships/image" Target="../media/image42.svg"/><Relationship Id="rId11" Type="http://schemas.openxmlformats.org/officeDocument/2006/relationships/image" Target="../media/image41.png"/><Relationship Id="rId10" Type="http://schemas.openxmlformats.org/officeDocument/2006/relationships/image" Target="../media/image40.svg"/><Relationship Id="rId1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1" Type="http://schemas.openxmlformats.org/officeDocument/2006/relationships/notesSlide" Target="../notesSlides/notesSlide9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18.xml"/><Relationship Id="rId29" Type="http://schemas.openxmlformats.org/officeDocument/2006/relationships/tags" Target="../tags/tag36.xml"/><Relationship Id="rId28" Type="http://schemas.openxmlformats.org/officeDocument/2006/relationships/image" Target="../media/image50.svg"/><Relationship Id="rId27" Type="http://schemas.openxmlformats.org/officeDocument/2006/relationships/image" Target="../media/image49.png"/><Relationship Id="rId26" Type="http://schemas.openxmlformats.org/officeDocument/2006/relationships/tags" Target="../tags/tag35.xml"/><Relationship Id="rId25" Type="http://schemas.openxmlformats.org/officeDocument/2006/relationships/tags" Target="../tags/tag34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image" Target="../media/image48.svg"/><Relationship Id="rId21" Type="http://schemas.openxmlformats.org/officeDocument/2006/relationships/image" Target="../media/image47.png"/><Relationship Id="rId20" Type="http://schemas.openxmlformats.org/officeDocument/2006/relationships/tags" Target="../tags/tag31.xml"/><Relationship Id="rId2" Type="http://schemas.openxmlformats.org/officeDocument/2006/relationships/tags" Target="../tags/tag17.xml"/><Relationship Id="rId19" Type="http://schemas.openxmlformats.org/officeDocument/2006/relationships/tags" Target="../tags/tag30.xml"/><Relationship Id="rId18" Type="http://schemas.openxmlformats.org/officeDocument/2006/relationships/image" Target="../media/image46.svg"/><Relationship Id="rId17" Type="http://schemas.openxmlformats.org/officeDocument/2006/relationships/image" Target="../media/image45.png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image" Target="../media/image26.svg"/><Relationship Id="rId13" Type="http://schemas.openxmlformats.org/officeDocument/2006/relationships/image" Target="../media/image25.png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0" y="1397000"/>
            <a:ext cx="76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CKKS</a:t>
            </a:r>
            <a:r>
              <a:rPr lang="en-US" sz="6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全同态加密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 + 代码</a:t>
            </a:r>
            <a:r>
              <a:rPr lang="zh-CN" altLang="en-US" sz="3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zh-CN" altLang="en-US" sz="3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展示人</a:t>
            </a:r>
            <a:r>
              <a:rPr lang="en-US" sz="18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8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张俊仁</a:t>
            </a:r>
            <a:r>
              <a:rPr lang="en-US" sz="18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8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609600" y="2286000"/>
            <a:ext cx="5334000" cy="13335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812800" y="2413000"/>
            <a:ext cx="88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828800" y="24765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初识CKKS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它是什么？解决了什么问题？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09600" y="3810000"/>
            <a:ext cx="5334000" cy="13335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812800" y="3937000"/>
            <a:ext cx="88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828800" y="40005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核心三要素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解密CKKS的三大参数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609600" y="5207000"/>
            <a:ext cx="5334000" cy="13335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812800" y="5334000"/>
            <a:ext cx="88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828800" y="53975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噪声与精度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为什么说CKKS是“近似”加密？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6248400" y="2955290"/>
            <a:ext cx="5334000" cy="13335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6451600" y="3082290"/>
            <a:ext cx="88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7467600" y="314579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密钥家族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解密、加密、运算的“钥匙们”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248400" y="4479290"/>
            <a:ext cx="5334000" cy="13335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6451600" y="4606290"/>
            <a:ext cx="88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7467600" y="466979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一行行拆解CKKS模块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初识CKKS：为“小数”而生的加密魔法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841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❓ 什么是CKKS？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CKKS是一种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全同态加密(FHE)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方案，它专为处理浮点数（小数）和复数而设计。相比传统加密方案，它在处理连续值数据时更具效率和优势。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619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🔑  解决的核心痛点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传统加密需解密后才能计算，存在严重隐私泄露风险。CKKS允许直接对“密文”进行加、减、乘等运算，结果依然是密文，仅密钥持有者可解密，实现了“数据可用不可见”。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5207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5397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 核心价值：释放数据价值的“金钥匙”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打破数据孤岛，让隐私数据在加密状态下实现价值流转与挖掘。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215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0" y="2286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02500" y="22225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隐私计算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多方联合分析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数据不出本地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77000" y="3683000"/>
            <a:ext cx="215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3937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02500" y="38735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AI模型保护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云端模型加密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参数双重防护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890000" y="2032000"/>
            <a:ext cx="215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80500" y="2286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715500" y="2222500"/>
            <a:ext cx="120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金融风控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客户隐私保护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精准风险评估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890000" y="3683000"/>
            <a:ext cx="2159000" cy="1397000"/>
          </a:xfrm>
          <a:prstGeom prst="roundRect">
            <a:avLst>
              <a:gd name="adj" fmla="val 909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80500" y="3937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15500" y="3873500"/>
            <a:ext cx="120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支持浮点数计算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密文直接运算</a:t>
            </a:r>
            <a:endParaRPr lang="en-US" sz="1100" b="0" i="0" u="none" strike="noStrike">
              <a:solidFill>
                <a:srgbClr val="F0FDF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5334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从医疗健康到自动驾驶，CKKS正在为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各个领域的高价值数据构建“数字护城河”</a:t>
            </a:r>
            <a:endParaRPr lang="en-US" sz="1100"/>
          </a:p>
        </p:txBody>
      </p:sp>
      <p:sp>
        <p:nvSpPr>
          <p:cNvPr id="23" name="圆角矩形标注 22"/>
          <p:cNvSpPr/>
          <p:nvPr/>
        </p:nvSpPr>
        <p:spPr>
          <a:xfrm>
            <a:off x="3014345" y="1198880"/>
            <a:ext cx="1965325" cy="889635"/>
          </a:xfrm>
          <a:prstGeom prst="wedgeRoundRectCallout">
            <a:avLst>
              <a:gd name="adj1" fmla="val -47415"/>
              <a:gd name="adj2" fmla="val 76909"/>
              <a:gd name="adj3" fmla="val 16667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014980" y="1143000"/>
            <a:ext cx="1964690" cy="889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数据加密后，可直接对密文做任意运算，全程不用解密；运算结果仍是密文，解密后与明文直接算的结果完全一致。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核心三要素：解密CKKS的三大参数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00200" y="2159000"/>
            <a:ext cx="2209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多项式模度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Poly Modulus Degree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508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3111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Roboto Mono"/>
                <a:ea typeface="Roboto Mono"/>
                <a:cs typeface="Roboto Mono"/>
                <a:sym typeface="Roboto Mono"/>
              </a:rPr>
              <a:t>_POLY_MODULUS_DEGREE = 8192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通俗比喻：货车车厢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决定一次能加密的数据量（slot数量）。数值越大，“车厢”越长，能装载的数据越多，但计算速度会变慢。8192的设定可一次性装载4096个浮点数。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159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83200" y="2159000"/>
            <a:ext cx="2209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系数模位宽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Coeff Mod Bit Sizes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699000" y="3048000"/>
            <a:ext cx="2794000" cy="508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826000" y="3111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Roboto Mono"/>
                <a:ea typeface="Roboto Mono"/>
                <a:cs typeface="Roboto Mono"/>
                <a:sym typeface="Roboto Mono"/>
              </a:rPr>
              <a:t>_COEFF_MOD_BIT_SIZES = [60,40,40,60]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通俗比喻：工具箱的隔层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决定了支持同态乘法的次数（乘法深度）。列表中的每个数字就像一个“隔层”，数量越多，支持的复杂运算能力越强。示例中的4个数字支持2次安全的同态乘法。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159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966200" y="2159000"/>
            <a:ext cx="2209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缩放因子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Global Scale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382000" y="3048000"/>
            <a:ext cx="2794000" cy="508000"/>
          </a:xfrm>
          <a:prstGeom prst="roundRect">
            <a:avLst>
              <a:gd name="adj" fmla="val 1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509000" y="3111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Roboto Mono"/>
                <a:ea typeface="Roboto Mono"/>
                <a:cs typeface="Roboto Mono"/>
                <a:sym typeface="Roboto Mono"/>
              </a:rPr>
              <a:t>_GLOBAL_SCALE = 2^40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通俗比喻：尺子的最小刻度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决定计算的最终精度。“刻度”越精细（如2^40），测量与计算的结果就越准确。它是CKKS方案能够实现近似实数（浮点数）运算的核心关键。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噪声与精度：为什么说CKKS是“近似”加密？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810000" cy="4572000"/>
          </a:xfrm>
          <a:prstGeom prst="roundRect">
            <a:avLst>
              <a:gd name="adj" fmla="val 4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1500" y="2286000"/>
            <a:ext cx="1651000" cy="1651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41910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“戴着手套去摸物体”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虽然能判断大致形状与大小，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却无法感知精细纹理。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这种“感知上的偏差”就是噪声。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953000" y="1651000"/>
            <a:ext cx="6477000" cy="1206500"/>
          </a:xfrm>
          <a:prstGeom prst="roundRect">
            <a:avLst>
              <a:gd name="adj" fmla="val 842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143500" y="1778000"/>
            <a:ext cx="609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🔊 什么是噪声 (Noise)？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噪声是CKKS加密过程中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自动引入的微小随机误差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。它是格密码学固有的特性，也是保证加密方案安全性的关键基石。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953000" y="3048000"/>
            <a:ext cx="6477000" cy="203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143500" y="3238500"/>
            <a:ext cx="1905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500" y="3365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3327400"/>
            <a:ext cx="133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加法运算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噪声增长非常缓慢，对最终结果几乎不产生负面影响。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239000" y="3238500"/>
            <a:ext cx="1905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6000" y="3365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83500" y="3327400"/>
            <a:ext cx="133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乘法运算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噪声会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平方级急剧增大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。若超出模数范围，解密结果将完全错误。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334500" y="3238500"/>
            <a:ext cx="1905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1500" y="3365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779000" y="3327400"/>
            <a:ext cx="133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重缩放 (Rescaling)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CKKS的核心技术之一，专门用于控制噪声增长，也是使用多层模数的原因。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953000" y="5270500"/>
            <a:ext cx="6477000" cy="1143000"/>
          </a:xfrm>
          <a:prstGeom prst="roundRect">
            <a:avLst>
              <a:gd name="adj" fmla="val 8888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43500" y="5524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588000" y="5397500"/>
            <a:ext cx="571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核心结论：CKKS是一种“近似加密”算法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0FD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解密结果与原始数据存在微小误差（通常约1e-6级别），但对绝大多数AI训练和数据分析场景，此误差完全可忽略不计。</a:t>
            </a:r>
            <a:endParaRPr lang="en-US" sz="1200" b="0" i="0" u="none" strike="noStrike">
              <a:solidFill>
                <a:srgbClr val="F0FDF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密钥家族：解密、加密、运算的“钥匙们”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905000"/>
            <a:ext cx="1016000" cy="1778000"/>
          </a:xfrm>
          <a:prstGeom prst="roundRect">
            <a:avLst>
              <a:gd name="adj" fmla="val 1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00" y="2413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1841500"/>
            <a:ext cx="355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私钥 (Secret Key)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角色：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保险箱的主人钥匙</a:t>
            </a:r>
            <a:endParaRPr lang="en-US" sz="13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唯一能解开密文，得到原始数据的钥匙。它是你身份的终极凭证，必须严格保密，不能泄露给任何人！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13500" y="1905000"/>
            <a:ext cx="1016000" cy="1778000"/>
          </a:xfrm>
          <a:prstGeom prst="roundRect">
            <a:avLst>
              <a:gd name="adj" fmla="val 1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6700" y="241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0" y="1841500"/>
            <a:ext cx="355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 (Public Key)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角色：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小区的公共邮箱地址</a:t>
            </a:r>
            <a:endParaRPr lang="en-US" sz="13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任何人都可以获取并使用它来加密数据，然后像投递信件一样“发送”给私钥的主人。公钥是完全公开的，无需保密。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4445000"/>
            <a:ext cx="1016000" cy="1778000"/>
          </a:xfrm>
          <a:prstGeom prst="roundRect">
            <a:avLst>
              <a:gd name="adj" fmla="val 1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5700" y="4953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159000" y="4381500"/>
            <a:ext cx="355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重线性化密钥 (Relin. Keys)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角色：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处理乘法的“压缩工具”</a:t>
            </a:r>
            <a:endParaRPr lang="en-US" sz="13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同态乘法运算会让密文的“尺寸”变大，导致后续计算困难。这把钥匙用于在计算后将密文“压缩”，使其保持在可高效处理的大小。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13500" y="4445000"/>
            <a:ext cx="1016000" cy="1778000"/>
          </a:xfrm>
          <a:prstGeom prst="roundRect">
            <a:avLst>
              <a:gd name="adj" fmla="val 1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6700" y="4953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620000" y="4381500"/>
            <a:ext cx="355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Galois 密钥 (Galois Keys)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角色：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数据排列的“调度员”</a:t>
            </a:r>
            <a:endParaRPr lang="en-US" sz="13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专门用于对密文中的向量数据进行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循环旋转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（Shift）操作。这是在密文上实现卷积、多项式乘法等复杂算法的底层基础。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代码实战：CKKS全流程概览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476500" cy="203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79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输入参数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_POLY_MODULUS_DEGREE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_COEFF_MOD_BIT_SIZES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_GLOBAL_SCALE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651000"/>
            <a:ext cx="2476500" cy="203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492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1905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27500" y="1879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构建上下文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2413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build_context()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基于核心参数创建CKKS算法的加密环境与计算参数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2476500" cy="203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1905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1879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生成密钥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413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generate_keys()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一次性生成私钥、公钥、重线性化密钥及Galois密钥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1651000"/>
            <a:ext cx="2476500" cy="203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953500" y="1651000"/>
            <a:ext cx="2476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1905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588500" y="18796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加密 (Encrypt)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2413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输入：公钥上下文 + 明文向量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输出：CKKS格式密文数据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4191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419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4445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97000" y="44196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同态运算 (Compute)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" y="508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直接对密文执行计算操作，如：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基础运算：加 (add), 减 (sub), 乘 (mul)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复杂变换：旋转 (Rotate), 复共轭 (Conj)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445000" y="4191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445000" y="419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500" y="4445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5080000" y="44196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解密 (Decrypt)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572000" y="508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输入：私钥 + 运算后的密文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输出：还原后的明文向量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用于验证计算结果正确性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128000" y="4191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128000" y="419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18500" y="44450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763000" y="44196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序列化 (Serialize)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255000" y="508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serialize_ct()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将密文对象转换为字节流 (Byte Stream)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解决密文在网络传输或文件存储的需求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代码实战：核心接口详解 (1/2)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133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build_context() 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构建上下文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CKKS 运算的第一步：搭建计算舞台，完成所有参数的初始化。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🔹 上游输入：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无（基于代码中预设的全局配置参数运行）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🔹 下游输出：</a:t>
            </a:r>
            <a:endParaRPr lang="en-US" sz="13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context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：加密算法的上下文环境，包含基础参数。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galois_keys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：Galois 变换密钥，用于复杂向量操作。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🔹 核心作用：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确立加密方案的所有底层参数，为后续所有计算创建基础环境。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15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2133600"/>
            <a:ext cx="423862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generate_keys(context) 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生成密钥对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921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CKKS 运算的第二步：基于上下文，生成用于加解密和同态运算的密钥。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🔹 上游输入：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 build_context() 生成的 context 上下文环境。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🔹 下游输出：</a:t>
            </a:r>
            <a:endParaRPr lang="en-US" sz="13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905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public_context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：包含公钥和重线性化密钥，用于加密和运算。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secret_key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：用于解密结果的私钥，需严格保密。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🔹 核心作用：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生成公私钥对，实现“加密/计算”与“解密”的安全职责分离，是保障算法安全性的关键步骤。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代码实战：核心接口详解 (2/2)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762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016000" y="18034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encrypt(public_context, plaintext_vector)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输入: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公钥上下文 / 待加密明文向量 (数组/列表)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输出: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ciphertext (密文对象) 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批量将明文数据加密为密文对象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762000" y="3429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762000" y="3429000"/>
            <a:ext cx="76200" cy="1587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016000" y="35814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decrypt(secret_key, ciphertext)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输入: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用户私钥 (Secret Key) / 待解密密文对象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输出: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decrypted_vector (明文向量) 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用私钥还原出原始数据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508000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62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016000" y="52324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serialize_ct(ciphertext) / deserialize_ct(</a:t>
            </a:r>
            <a:r>
              <a:rPr lang="en-US" altLang="zh-CN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data, context</a:t>
            </a: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核心功能: 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实现“密文对象”与“字节流”之间的双向转换，解决密文在文件存储和网络传输中的序列化问题。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223000" y="1651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6477000" y="1905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31000" y="21590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7620000" y="2095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数据加密 Encryption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原始数据 (明文) ➔ 加密计算 ➔ 密文对象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09000" y="3175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6477000" y="3683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731000" y="3937000"/>
            <a:ext cx="635000" cy="6350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7620000" y="3873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序列化/反序列化 I/O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密文对象 ⇄ 字节流 (Byte Stream) 便于存储与传输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09000" y="4953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6477000" y="5461000"/>
            <a:ext cx="46990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731000" y="56515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7620000" y="5588000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数据解密 Decryption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密文对象 ➔ 解密计算 ➔ 原始数据 (明文)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9600" b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9600">
              <a:solidFill>
                <a:srgbClr val="22C55E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588000" y="3810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 FOR LISTENING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2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3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4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5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6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7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8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9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10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11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12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13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14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15.xml><?xml version="1.0" encoding="utf-8"?>
<p:tagLst xmlns:p="http://schemas.openxmlformats.org/presentationml/2006/main">
  <p:tag name="KSO_WM_DIAGRAM_VIRTUALLY_FRAME" val="{&quot;height&quot;:335,&quot;left&quot;:48,&quot;top&quot;:180,&quot;width&quot;:864}"/>
</p:tagLst>
</file>

<file path=ppt/tags/tag16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8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9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0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1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2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3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4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5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6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7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8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9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30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31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32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33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34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35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36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3029</Words>
  <Application>WPS 演示</Application>
  <PresentationFormat/>
  <Paragraphs>203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黑体</vt:lpstr>
      <vt:lpstr>Roboto Mono</vt:lpstr>
      <vt:lpstr>Segoe Print</vt:lpstr>
      <vt:lpstr>微软雅黑</vt:lpstr>
      <vt:lpstr>Arial Unicode MS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WPS_1601967451</cp:lastModifiedBy>
  <cp:revision>10</cp:revision>
  <dcterms:created xsi:type="dcterms:W3CDTF">2026-05-19T10:18:00Z</dcterms:created>
  <dcterms:modified xsi:type="dcterms:W3CDTF">2026-05-21T09:31:01Z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CB68C48152C14BED83D7BBB39A080D43_13</vt:lpwstr>
  </property>
</Properties>
</file>